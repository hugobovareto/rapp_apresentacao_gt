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7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Nunito" pitchFamily="2" charset="0"/>
      <p:regular r:id="rId24"/>
      <p:bold r:id="rId25"/>
    </p:embeddedFont>
    <p:embeddedFont>
      <p:font typeface="Nunito Black" pitchFamily="2" charset="0"/>
      <p:bold r:id="rId26"/>
    </p:embeddedFont>
    <p:embeddedFont>
      <p:font typeface="Nunito ExtraBold" pitchFamily="2" charset="0"/>
      <p:bold r:id="rId27"/>
    </p:embeddedFont>
    <p:embeddedFont>
      <p:font typeface="Nunito Medium" panose="020B0604020202020204" charset="0"/>
      <p:regular r:id="rId28"/>
      <p:bold r:id="rId29"/>
      <p:italic r:id="rId30"/>
      <p:boldItalic r:id="rId31"/>
    </p:embeddedFont>
    <p:embeddedFont>
      <p:font typeface="Work Sans Medium" pitchFamily="2" charset="0"/>
      <p:regular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4" roundtripDataSignature="AMtx7mgEC/Bgzg7v6ZK5fwGvGFFB4yTTlA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Ivone Beatriz Cavalcanti" initials="" lastIdx="3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192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21" Type="http://schemas.openxmlformats.org/officeDocument/2006/relationships/slide" Target="slides/slide20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45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4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8-31T13:45:16.261" idx="1">
    <p:pos x="6000" y="0"/>
    <p:text>Aqui seria indicado o resultado geral RAPP - Avalia Potiguar e Plurall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GL1_5L4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8-28T14:15:30.996" idx="2">
    <p:pos x="6000" y="0"/>
    <p:text>Aqui seria indicado o resultado geral RAPP - Avalia Potiguar e Plurall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GL1_5L8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6-09-11T16:38:11.207" idx="3">
    <p:pos x="6000" y="0"/>
    <p:text>incluir nos slides:
- pouco slides 
- dados avalia e plural
- datas do 2º ciclo 
- reunião mensal 
- EPT, EJA e avexados 
limite de etapa e série não serão discutidos neste GT
- envio do ppt até dia 28/09</p:text>
    <p:extLst>
      <p:ext uri="{C676402C-5697-4E1C-873F-D02D1690AC5C}">
        <p15:threadingInfo xmlns:p15="http://schemas.microsoft.com/office/powerpoint/2012/main" timeZoneBias="0"/>
      </p:ext>
      <p:ext uri="http://customooxmlschemas.google.com/">
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commentPostId="AAACG6YvCLI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f5dc38b4af_0_8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9" name="Google Shape;139;g3f5dc38b4af_0_8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f5dc38b4af_0_1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71" name="Google Shape;171;g3f5dc38b4af_0_1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40f36d5e1_5_4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83" name="Google Shape;183;g3f40f36d5e1_5_4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f8812c830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15" name="Google Shape;215;g3f8812c830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f6945d557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f6945d557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3f8475dcb0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87" name="Google Shape;287;g3f8475dcb0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f8475dcb06_5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96" name="Google Shape;296;g3f8475dcb06_5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f9b804d1d0_4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5" name="Google Shape;305;g3f9b804d1d0_4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f8812c830a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63" name="Google Shape;363;g3f8812c830a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g3f8812c830a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1" name="Google Shape;371;g3f8812c830a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3f8812c830a_0_2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79" name="Google Shape;379;g3f8812c830a_0_2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3f8812c830a_0_2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87" name="Google Shape;387;g3f8812c830a_0_2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f8812c830a_0_2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95" name="Google Shape;395;g3f8812c830a_0_2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f8812c830a_0_2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07" name="Google Shape;407;g3f8812c830a_0_2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f780a7cf7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0" name="Google Shape;450;g3f780a7cf7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f896b147cd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7" name="Google Shape;487;g3f896b147cd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3fa005b515c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99" name="Google Shape;499;g3fa005b515c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3faa9e98180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9" name="Google Shape;509;g3faa9e98180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fa005b515c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6" name="Google Shape;576;g3fa005b515c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g3faa9e9818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6" name="Google Shape;586;g3faa9e9818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3f1c7dcf47f_0_48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96" name="Google Shape;596;g3f1c7dcf47f_0_48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f5ecf859b8_16_79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g3f5ecf859b8_16_79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g3f5ecf859b8_16_79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g3f5ecf859b8_16_80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g3f5ecf859b8_16_80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g3f5ecf859b8_16_80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g3f5ecf859b8_16_80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g3f5ecf859b8_16_80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5ecf859b8_16_8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g3f5ecf859b8_16_82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24" name="Google Shape;24;g3f5ecf859b8_16_821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25" name="Google Shape;25;g3f5ecf859b8_16_8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g3f5ecf859b8_16_8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g3f5ecf859b8_16_8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5ecf859b8_16_809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g3f5ecf859b8_16_809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g3f5ecf859b8_16_80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g3f5ecf859b8_16_80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g3f5ecf859b8_16_80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5ecf859b8_16_8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g3f5ecf859b8_16_8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7" name="Google Shape;37;g3f5ecf859b8_16_8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g3f5ecf859b8_16_8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g3f5ecf859b8_16_8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f5ecf859b8_16_82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g3f5ecf859b8_16_828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2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3" name="Google Shape;43;g3f5ecf859b8_16_828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2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44" name="Google Shape;44;g3f5ecf859b8_16_828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11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45" name="Google Shape;45;g3f5ecf859b8_16_828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1100" cy="197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46" name="Google Shape;46;g3f5ecf859b8_16_82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g3f5ecf859b8_16_82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g3f5ecf859b8_16_82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f5ecf859b8_16_83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g3f5ecf859b8_16_83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g3f5ecf859b8_16_83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g3f5ecf859b8_16_83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5ecf859b8_16_842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200" cy="5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g3f5ecf859b8_16_842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6000" cy="29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57" name="Google Shape;57;g3f5ecf859b8_16_842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200" cy="234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58" name="Google Shape;58;g3f5ecf859b8_16_84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g3f5ecf859b8_16_84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g3f5ecf859b8_16_84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f5ecf859b8_16_849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g3f5ecf859b8_16_849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f5ecf859b8_16_849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65" name="Google Shape;65;g3f5ecf859b8_16_84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g3f5ecf859b8_16_84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g3f5ecf859b8_16_84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5ecf859b8_16_85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g3f5ecf859b8_16_856"/>
          <p:cNvSpPr txBox="1">
            <a:spLocks noGrp="1"/>
          </p:cNvSpPr>
          <p:nvPr>
            <p:ph type="body" idx="1"/>
          </p:nvPr>
        </p:nvSpPr>
        <p:spPr>
          <a:xfrm rot="5400000">
            <a:off x="1154400" y="-125700"/>
            <a:ext cx="2263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g3f5ecf859b8_16_85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g3f5ecf859b8_16_85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g3f5ecf859b8_16_85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f5ecf859b8_16_862"/>
          <p:cNvSpPr txBox="1">
            <a:spLocks noGrp="1"/>
          </p:cNvSpPr>
          <p:nvPr>
            <p:ph type="title"/>
          </p:nvPr>
        </p:nvSpPr>
        <p:spPr>
          <a:xfrm rot="5400000">
            <a:off x="2366100" y="1085919"/>
            <a:ext cx="29259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g3f5ecf859b8_16_862"/>
          <p:cNvSpPr txBox="1">
            <a:spLocks noGrp="1"/>
          </p:cNvSpPr>
          <p:nvPr>
            <p:ph type="body" idx="1"/>
          </p:nvPr>
        </p:nvSpPr>
        <p:spPr>
          <a:xfrm rot="5400000">
            <a:off x="270600" y="95319"/>
            <a:ext cx="2925900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g3f5ecf859b8_16_86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g3f5ecf859b8_16_86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g3f5ecf859b8_16_86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 em branco">
  <p:cSld name="TITLE_1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la em branco 1">
  <p:cSld name="TITLE_2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1">
  <p:cSld name="TITLE_AND_BODY_2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f659ab3ccd_0_192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77100" cy="6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g3f659ab3ccd_0_192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g3f659ab3ccd_0_192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86" name="Google Shape;86;g3f659ab3ccd_0_192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7" name="Google Shape;87;g3f659ab3ccd_0_192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8" name="Google Shape;88;g3f659ab3ccd_0_192" title="GARN_IDV_elementos_rnbandeira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f659ab3ccd_0_192" title="GARN_IDV_elementos_cacto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2700000">
            <a:off x="-218461" y="10818"/>
            <a:ext cx="614671" cy="12871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1">
  <p:cSld name="TITLE_AND_BODY_1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659ab3ccd_0_20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g3f659ab3ccd_0_20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marL="274320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marL="320040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marL="365760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marL="411480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g3f659ab3ccd_0_20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f659ab3ccd_0_204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6219000" cy="69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1600"/>
              <a:buNone/>
              <a:defRPr>
                <a:solidFill>
                  <a:srgbClr val="CC8A4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8A42"/>
              </a:buClr>
              <a:buSzPts val="2400"/>
              <a:buNone/>
              <a:defRPr>
                <a:solidFill>
                  <a:srgbClr val="CC8A42"/>
                </a:solidFill>
              </a:defRPr>
            </a:lvl9pPr>
          </a:lstStyle>
          <a:p>
            <a:endParaRPr/>
          </a:p>
        </p:txBody>
      </p:sp>
      <p:sp>
        <p:nvSpPr>
          <p:cNvPr id="96" name="Google Shape;96;g3f659ab3ccd_0_204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97" name="Google Shape;97;g3f659ab3ccd_0_204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98" name="Google Shape;98;g3f659ab3ccd_0_204" title="GARN_IDV_elementos_folhamarrom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 rot="-3600008">
            <a:off x="-144744" y="-138621"/>
            <a:ext cx="775609" cy="959295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g3f659ab3ccd_0_204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00" name="Google Shape;100;g3f659ab3ccd_0_204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g3f659ab3ccd_0_204" title="GARN_IDV_elementos_rnbandeir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nto principal 1 1">
  <p:cSld name="MAIN_POINT_1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f659ab3ccd_0_212"/>
          <p:cNvSpPr/>
          <p:nvPr/>
        </p:nvSpPr>
        <p:spPr>
          <a:xfrm>
            <a:off x="-71675" y="0"/>
            <a:ext cx="2726100" cy="51435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4" name="Google Shape;104;g3f659ab3ccd_0_212" title="GARN_IDV_elementos_cacto1.png"/>
          <p:cNvPicPr preferRelativeResize="0"/>
          <p:nvPr/>
        </p:nvPicPr>
        <p:blipFill rotWithShape="1">
          <a:blip r:embed="rId2">
            <a:alphaModFix/>
          </a:blip>
          <a:srcRect l="28336"/>
          <a:stretch/>
        </p:blipFill>
        <p:spPr>
          <a:xfrm flipH="1">
            <a:off x="-252126" y="-333100"/>
            <a:ext cx="3087001" cy="6840604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f659ab3ccd_0_212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pic>
        <p:nvPicPr>
          <p:cNvPr id="106" name="Google Shape;106;g3f659ab3ccd_0_212" title="GARN_IDV_elementos_rnamarelo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12355" y="4012117"/>
            <a:ext cx="1537725" cy="88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g3f659ab3ccd_0_212"/>
          <p:cNvSpPr txBox="1">
            <a:spLocks noGrp="1"/>
          </p:cNvSpPr>
          <p:nvPr>
            <p:ph type="title"/>
          </p:nvPr>
        </p:nvSpPr>
        <p:spPr>
          <a:xfrm>
            <a:off x="253925" y="430700"/>
            <a:ext cx="2265600" cy="300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108" name="Google Shape;108;g3f659ab3ccd_0_212"/>
          <p:cNvSpPr txBox="1">
            <a:spLocks noGrp="1"/>
          </p:cNvSpPr>
          <p:nvPr>
            <p:ph type="subTitle" idx="1"/>
          </p:nvPr>
        </p:nvSpPr>
        <p:spPr>
          <a:xfrm>
            <a:off x="3310950" y="4461500"/>
            <a:ext cx="5252100" cy="3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1pPr>
            <a:lvl2pPr lvl="1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2pPr>
            <a:lvl3pPr lvl="2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3pPr>
            <a:lvl4pPr lvl="3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4pPr>
            <a:lvl5pPr lvl="4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5pPr>
            <a:lvl6pPr lvl="5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6pPr>
            <a:lvl7pPr lvl="6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7pPr>
            <a:lvl8pPr lvl="7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8pPr>
            <a:lvl9pPr lvl="8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800"/>
              <a:buNone/>
              <a:defRPr sz="800"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">
  <p:cSld name="TITLE_AND_BODY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f659ab3ccd_0_219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11" name="Google Shape;111;g3f659ab3ccd_0_219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2" name="Google Shape;112;g3f659ab3ccd_0_219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g3f659ab3ccd_0_219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14" name="Google Shape;114;g3f659ab3ccd_0_219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15" name="Google Shape;115;g3f659ab3ccd_0_219" title="GARN_IDV_elementos_rnazu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f659ab3ccd_0_219" title="GARN_IDV_elementos_rnbandeir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1 1">
  <p:cSld name="TITLE_AND_BODY_1_2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f659ab3ccd_0_227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19" name="Google Shape;119;g3f659ab3ccd_0_227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g3f659ab3ccd_0_227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400600" cy="6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6DC"/>
              </a:buClr>
              <a:buSzPts val="1600"/>
              <a:buNone/>
              <a:defRPr>
                <a:solidFill>
                  <a:srgbClr val="00A6DC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g3f659ab3ccd_0_227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2" name="Google Shape;122;g3f659ab3ccd_0_227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pic>
        <p:nvPicPr>
          <p:cNvPr id="123" name="Google Shape;123;g3f659ab3ccd_0_227" title="GARN_IDV_elementos_rnazul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74776" y="192125"/>
            <a:ext cx="791099" cy="4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f659ab3ccd_0_227" title="GARN_IDV_elementos_rnbandeira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rpo 2 2">
  <p:cSld name="TITLE_AND_BODY_2_2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f659ab3ccd_0_235"/>
          <p:cNvSpPr txBox="1">
            <a:spLocks noGrp="1"/>
          </p:cNvSpPr>
          <p:nvPr>
            <p:ph type="title"/>
          </p:nvPr>
        </p:nvSpPr>
        <p:spPr>
          <a:xfrm>
            <a:off x="761275" y="192125"/>
            <a:ext cx="5922300" cy="67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1600"/>
              <a:buNone/>
              <a:defRPr>
                <a:solidFill>
                  <a:srgbClr val="58A75B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A75B"/>
              </a:buClr>
              <a:buSzPts val="2400"/>
              <a:buNone/>
              <a:defRPr>
                <a:solidFill>
                  <a:srgbClr val="58A75B"/>
                </a:solidFill>
              </a:defRPr>
            </a:lvl9pPr>
          </a:lstStyle>
          <a:p>
            <a:endParaRPr/>
          </a:p>
        </p:txBody>
      </p:sp>
      <p:sp>
        <p:nvSpPr>
          <p:cNvPr id="127" name="Google Shape;127;g3f659ab3ccd_0_235"/>
          <p:cNvSpPr txBox="1">
            <a:spLocks noGrp="1"/>
          </p:cNvSpPr>
          <p:nvPr>
            <p:ph type="body" idx="1"/>
          </p:nvPr>
        </p:nvSpPr>
        <p:spPr>
          <a:xfrm>
            <a:off x="761275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28" name="Google Shape;128;g3f659ab3ccd_0_235"/>
          <p:cNvSpPr txBox="1">
            <a:spLocks noGrp="1"/>
          </p:cNvSpPr>
          <p:nvPr>
            <p:ph type="sldNum" idx="12"/>
          </p:nvPr>
        </p:nvSpPr>
        <p:spPr>
          <a:xfrm>
            <a:off x="8535925" y="4395200"/>
            <a:ext cx="485100" cy="37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A75B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  <p:sp>
        <p:nvSpPr>
          <p:cNvPr id="129" name="Google Shape;129;g3f659ab3ccd_0_235"/>
          <p:cNvSpPr txBox="1">
            <a:spLocks noGrp="1"/>
          </p:cNvSpPr>
          <p:nvPr>
            <p:ph type="body" idx="2"/>
          </p:nvPr>
        </p:nvSpPr>
        <p:spPr>
          <a:xfrm>
            <a:off x="4670646" y="1022850"/>
            <a:ext cx="3658500" cy="30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marL="914400" lvl="1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○"/>
              <a:defRPr/>
            </a:lvl2pPr>
            <a:lvl3pPr marL="1371600" lvl="2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lvl="3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4pPr>
            <a:lvl5pPr marL="2286000" lvl="4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130" name="Google Shape;130;g3f659ab3ccd_0_235"/>
          <p:cNvSpPr/>
          <p:nvPr/>
        </p:nvSpPr>
        <p:spPr>
          <a:xfrm rot="10800000">
            <a:off x="-53050" y="4761575"/>
            <a:ext cx="9249900" cy="391200"/>
          </a:xfrm>
          <a:prstGeom prst="rect">
            <a:avLst/>
          </a:prstGeom>
          <a:solidFill>
            <a:srgbClr val="58A75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g3f659ab3ccd_0_235" title="GARN_IDV_elementos_rnbandeira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81175" y="4601175"/>
            <a:ext cx="693400" cy="399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f659ab3ccd_0_235" title="GARN_IDV_elementos_sol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364025" y="-98112"/>
            <a:ext cx="1040625" cy="104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_AND_BODY_2">
  <p:cSld name="TITLE_AND_BODY_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f659ab3ccd_0_24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g3f659ab3ccd_0_24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/>
            </a:lvl1pPr>
            <a:lvl2pPr marL="914400" lvl="1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–"/>
              <a:defRPr/>
            </a:lvl2pPr>
            <a:lvl3pPr marL="1371600" lvl="2" indent="-30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200"/>
              <a:buChar char="•"/>
              <a:defRPr/>
            </a:lvl3pPr>
            <a:lvl4pPr marL="1828800" lvl="3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–"/>
              <a:defRPr/>
            </a:lvl4pPr>
            <a:lvl5pPr marL="2286000" lvl="4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»"/>
              <a:defRPr/>
            </a:lvl5pPr>
            <a:lvl6pPr marL="2743200" lvl="5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6pPr>
            <a:lvl7pPr marL="3200400" lvl="6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7pPr>
            <a:lvl8pPr marL="3657600" lvl="7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8pPr>
            <a:lvl9pPr marL="4114800" lvl="8" indent="-2921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SzPts val="10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g3f659ab3ccd_0_24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f5ecf859b8_16_793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g3f5ecf859b8_16_793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g3f5ecf859b8_16_79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g3f5ecf859b8_16_79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g3f5ecf859b8_16_79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3" Type="http://schemas.openxmlformats.org/officeDocument/2006/relationships/image" Target="../media/image23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0" Type="http://schemas.openxmlformats.org/officeDocument/2006/relationships/image" Target="../media/image37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comments" Target="../comments/comment3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6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A75B"/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f5dc38b4af_0_835"/>
          <p:cNvSpPr/>
          <p:nvPr/>
        </p:nvSpPr>
        <p:spPr>
          <a:xfrm>
            <a:off x="5961597" y="-144949"/>
            <a:ext cx="3434419" cy="3569813"/>
          </a:xfrm>
          <a:custGeom>
            <a:avLst/>
            <a:gdLst/>
            <a:ahLst/>
            <a:cxnLst/>
            <a:rect l="l" t="t" r="r" b="b"/>
            <a:pathLst>
              <a:path w="6701306" h="6965489" extrusionOk="0">
                <a:moveTo>
                  <a:pt x="0" y="0"/>
                </a:moveTo>
                <a:lnTo>
                  <a:pt x="6701307" y="0"/>
                </a:lnTo>
                <a:lnTo>
                  <a:pt x="6701307" y="6965489"/>
                </a:lnTo>
                <a:lnTo>
                  <a:pt x="0" y="69654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8511" t="-6861" r="-9381" b="-84512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2" name="Google Shape;142;g3f5dc38b4af_0_835"/>
          <p:cNvSpPr/>
          <p:nvPr/>
        </p:nvSpPr>
        <p:spPr>
          <a:xfrm>
            <a:off x="5317385" y="1238203"/>
            <a:ext cx="1451773" cy="2316658"/>
          </a:xfrm>
          <a:custGeom>
            <a:avLst/>
            <a:gdLst/>
            <a:ahLst/>
            <a:cxnLst/>
            <a:rect l="l" t="t" r="r" b="b"/>
            <a:pathLst>
              <a:path w="2832727" h="4520309" extrusionOk="0">
                <a:moveTo>
                  <a:pt x="0" y="0"/>
                </a:moveTo>
                <a:lnTo>
                  <a:pt x="2832728" y="0"/>
                </a:lnTo>
                <a:lnTo>
                  <a:pt x="2832728" y="4520309"/>
                </a:lnTo>
                <a:lnTo>
                  <a:pt x="0" y="45203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460" t="-10700" r="-828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143" name="Google Shape;143;g3f5dc38b4af_0_835"/>
          <p:cNvGrpSpPr/>
          <p:nvPr/>
        </p:nvGrpSpPr>
        <p:grpSpPr>
          <a:xfrm>
            <a:off x="5087057" y="2719407"/>
            <a:ext cx="3067381" cy="1014409"/>
            <a:chOff x="0" y="-9525"/>
            <a:chExt cx="2110922" cy="698100"/>
          </a:xfrm>
        </p:grpSpPr>
        <p:sp>
          <p:nvSpPr>
            <p:cNvPr id="144" name="Google Shape;144;g3f5dc38b4af_0_835"/>
            <p:cNvSpPr/>
            <p:nvPr/>
          </p:nvSpPr>
          <p:spPr>
            <a:xfrm>
              <a:off x="0" y="0"/>
              <a:ext cx="2110922" cy="688474"/>
            </a:xfrm>
            <a:custGeom>
              <a:avLst/>
              <a:gdLst/>
              <a:ahLst/>
              <a:cxnLst/>
              <a:rect l="l" t="t" r="r" b="b"/>
              <a:pathLst>
                <a:path w="2110922" h="688474" extrusionOk="0">
                  <a:moveTo>
                    <a:pt x="71179" y="0"/>
                  </a:moveTo>
                  <a:lnTo>
                    <a:pt x="2039743" y="0"/>
                  </a:lnTo>
                  <a:cubicBezTo>
                    <a:pt x="2058621" y="0"/>
                    <a:pt x="2076726" y="7499"/>
                    <a:pt x="2090074" y="20848"/>
                  </a:cubicBezTo>
                  <a:cubicBezTo>
                    <a:pt x="2103423" y="34197"/>
                    <a:pt x="2110922" y="52301"/>
                    <a:pt x="2110922" y="71179"/>
                  </a:cubicBezTo>
                  <a:lnTo>
                    <a:pt x="2110922" y="617295"/>
                  </a:lnTo>
                  <a:cubicBezTo>
                    <a:pt x="2110922" y="656606"/>
                    <a:pt x="2079054" y="688474"/>
                    <a:pt x="2039743" y="688474"/>
                  </a:cubicBezTo>
                  <a:lnTo>
                    <a:pt x="71179" y="688474"/>
                  </a:lnTo>
                  <a:cubicBezTo>
                    <a:pt x="52301" y="688474"/>
                    <a:pt x="34197" y="680975"/>
                    <a:pt x="20848" y="667627"/>
                  </a:cubicBezTo>
                  <a:cubicBezTo>
                    <a:pt x="7499" y="654278"/>
                    <a:pt x="0" y="636173"/>
                    <a:pt x="0" y="617295"/>
                  </a:cubicBezTo>
                  <a:lnTo>
                    <a:pt x="0" y="71179"/>
                  </a:lnTo>
                  <a:cubicBezTo>
                    <a:pt x="0" y="52301"/>
                    <a:pt x="7499" y="34197"/>
                    <a:pt x="20848" y="20848"/>
                  </a:cubicBezTo>
                  <a:cubicBezTo>
                    <a:pt x="34197" y="7499"/>
                    <a:pt x="52301" y="0"/>
                    <a:pt x="71179" y="0"/>
                  </a:cubicBezTo>
                  <a:close/>
                </a:path>
              </a:pathLst>
            </a:custGeom>
            <a:solidFill>
              <a:srgbClr val="50A45B"/>
            </a:solidFill>
            <a:ln>
              <a:noFill/>
            </a:ln>
          </p:spPr>
          <p:txBody>
            <a:bodyPr spcFirstLastPara="1" wrap="square" lIns="46875" tIns="46875" rIns="46875" bIns="468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" name="Google Shape;145;g3f5dc38b4af_0_835"/>
            <p:cNvSpPr txBox="1"/>
            <p:nvPr/>
          </p:nvSpPr>
          <p:spPr>
            <a:xfrm>
              <a:off x="0" y="-9525"/>
              <a:ext cx="2110800" cy="698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775" tIns="36775" rIns="36775" bIns="36775" anchor="ctr" anchorCtr="0">
              <a:noAutofit/>
            </a:bodyPr>
            <a:lstStyle/>
            <a:p>
              <a:pPr marL="0" marR="0" lvl="0" indent="0" algn="ctr" rtl="0">
                <a:lnSpc>
                  <a:spcPct val="9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6" name="Google Shape;146;g3f5dc38b4af_0_835"/>
          <p:cNvSpPr/>
          <p:nvPr/>
        </p:nvSpPr>
        <p:spPr>
          <a:xfrm>
            <a:off x="4563368" y="1675157"/>
            <a:ext cx="1284736" cy="2541592"/>
          </a:xfrm>
          <a:custGeom>
            <a:avLst/>
            <a:gdLst/>
            <a:ahLst/>
            <a:cxnLst/>
            <a:rect l="l" t="t" r="r" b="b"/>
            <a:pathLst>
              <a:path w="2506802" h="4959204" extrusionOk="0">
                <a:moveTo>
                  <a:pt x="0" y="0"/>
                </a:moveTo>
                <a:lnTo>
                  <a:pt x="2506802" y="0"/>
                </a:lnTo>
                <a:lnTo>
                  <a:pt x="2506802" y="4959204"/>
                </a:lnTo>
                <a:lnTo>
                  <a:pt x="0" y="4959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3090" r="-17731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47" name="Google Shape;147;g3f5dc38b4af_0_835"/>
          <p:cNvSpPr/>
          <p:nvPr/>
        </p:nvSpPr>
        <p:spPr>
          <a:xfrm>
            <a:off x="7621234" y="2270632"/>
            <a:ext cx="1066122" cy="2311115"/>
          </a:xfrm>
          <a:custGeom>
            <a:avLst/>
            <a:gdLst/>
            <a:ahLst/>
            <a:cxnLst/>
            <a:rect l="l" t="t" r="r" b="b"/>
            <a:pathLst>
              <a:path w="2080238" h="4509492" extrusionOk="0">
                <a:moveTo>
                  <a:pt x="0" y="0"/>
                </a:moveTo>
                <a:lnTo>
                  <a:pt x="2080238" y="0"/>
                </a:lnTo>
                <a:lnTo>
                  <a:pt x="2080238" y="4509492"/>
                </a:lnTo>
                <a:lnTo>
                  <a:pt x="0" y="4509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5459" r="-2885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148" name="Google Shape;148;g3f5dc38b4af_0_835"/>
          <p:cNvGrpSpPr/>
          <p:nvPr/>
        </p:nvGrpSpPr>
        <p:grpSpPr>
          <a:xfrm>
            <a:off x="5601854" y="3540743"/>
            <a:ext cx="3245133" cy="910285"/>
            <a:chOff x="0" y="-9525"/>
            <a:chExt cx="2008500" cy="563400"/>
          </a:xfrm>
        </p:grpSpPr>
        <p:sp>
          <p:nvSpPr>
            <p:cNvPr id="149" name="Google Shape;149;g3f5dc38b4af_0_835"/>
            <p:cNvSpPr/>
            <p:nvPr/>
          </p:nvSpPr>
          <p:spPr>
            <a:xfrm>
              <a:off x="0" y="0"/>
              <a:ext cx="2008458" cy="553770"/>
            </a:xfrm>
            <a:custGeom>
              <a:avLst/>
              <a:gdLst/>
              <a:ahLst/>
              <a:cxnLst/>
              <a:rect l="l" t="t" r="r" b="b"/>
              <a:pathLst>
                <a:path w="2008458" h="553770" extrusionOk="0">
                  <a:moveTo>
                    <a:pt x="91757" y="0"/>
                  </a:moveTo>
                  <a:lnTo>
                    <a:pt x="1916701" y="0"/>
                  </a:lnTo>
                  <a:cubicBezTo>
                    <a:pt x="1941036" y="0"/>
                    <a:pt x="1964375" y="9667"/>
                    <a:pt x="1981583" y="26875"/>
                  </a:cubicBezTo>
                  <a:cubicBezTo>
                    <a:pt x="1998791" y="44083"/>
                    <a:pt x="2008458" y="67422"/>
                    <a:pt x="2008458" y="91757"/>
                  </a:cubicBezTo>
                  <a:lnTo>
                    <a:pt x="2008458" y="462013"/>
                  </a:lnTo>
                  <a:cubicBezTo>
                    <a:pt x="2008458" y="486348"/>
                    <a:pt x="1998791" y="509687"/>
                    <a:pt x="1981583" y="526895"/>
                  </a:cubicBezTo>
                  <a:cubicBezTo>
                    <a:pt x="1964375" y="544103"/>
                    <a:pt x="1941036" y="553770"/>
                    <a:pt x="1916701" y="553770"/>
                  </a:cubicBezTo>
                  <a:lnTo>
                    <a:pt x="91757" y="553770"/>
                  </a:lnTo>
                  <a:cubicBezTo>
                    <a:pt x="67422" y="553770"/>
                    <a:pt x="44083" y="544103"/>
                    <a:pt x="26875" y="526895"/>
                  </a:cubicBezTo>
                  <a:cubicBezTo>
                    <a:pt x="9667" y="509687"/>
                    <a:pt x="0" y="486348"/>
                    <a:pt x="0" y="462013"/>
                  </a:cubicBezTo>
                  <a:lnTo>
                    <a:pt x="0" y="91757"/>
                  </a:lnTo>
                  <a:cubicBezTo>
                    <a:pt x="0" y="67422"/>
                    <a:pt x="9667" y="44083"/>
                    <a:pt x="26875" y="26875"/>
                  </a:cubicBezTo>
                  <a:cubicBezTo>
                    <a:pt x="44083" y="9667"/>
                    <a:pt x="67422" y="0"/>
                    <a:pt x="91757" y="0"/>
                  </a:cubicBezTo>
                  <a:close/>
                </a:path>
              </a:pathLst>
            </a:custGeom>
            <a:solidFill>
              <a:srgbClr val="F2A4DD"/>
            </a:solidFill>
            <a:ln>
              <a:noFill/>
            </a:ln>
          </p:spPr>
          <p:txBody>
            <a:bodyPr spcFirstLastPara="1" wrap="square" lIns="46875" tIns="46875" rIns="46875" bIns="468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" name="Google Shape;150;g3f5dc38b4af_0_835"/>
            <p:cNvSpPr txBox="1"/>
            <p:nvPr/>
          </p:nvSpPr>
          <p:spPr>
            <a:xfrm>
              <a:off x="0" y="-9525"/>
              <a:ext cx="2008500" cy="5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36775" tIns="36775" rIns="36775" bIns="36775" anchor="ctr" anchorCtr="0">
              <a:noAutofit/>
            </a:bodyPr>
            <a:lstStyle/>
            <a:p>
              <a:pPr marL="0" marR="0" lvl="0" indent="0" algn="ctr" rtl="0">
                <a:lnSpc>
                  <a:spcPct val="9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1" name="Google Shape;151;g3f5dc38b4af_0_835"/>
          <p:cNvSpPr/>
          <p:nvPr/>
        </p:nvSpPr>
        <p:spPr>
          <a:xfrm>
            <a:off x="5307898" y="1910791"/>
            <a:ext cx="2624413" cy="2670758"/>
          </a:xfrm>
          <a:custGeom>
            <a:avLst/>
            <a:gdLst/>
            <a:ahLst/>
            <a:cxnLst/>
            <a:rect l="l" t="t" r="r" b="b"/>
            <a:pathLst>
              <a:path w="5120805" h="5211235" extrusionOk="0">
                <a:moveTo>
                  <a:pt x="0" y="0"/>
                </a:moveTo>
                <a:lnTo>
                  <a:pt x="5120805" y="0"/>
                </a:lnTo>
                <a:lnTo>
                  <a:pt x="5120805" y="5211235"/>
                </a:lnTo>
                <a:lnTo>
                  <a:pt x="0" y="5211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1360" b="-2194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2" name="Google Shape;152;g3f5dc38b4af_0_835"/>
          <p:cNvSpPr/>
          <p:nvPr/>
        </p:nvSpPr>
        <p:spPr>
          <a:xfrm>
            <a:off x="6073630" y="2885698"/>
            <a:ext cx="695941" cy="1516705"/>
          </a:xfrm>
          <a:custGeom>
            <a:avLst/>
            <a:gdLst/>
            <a:ahLst/>
            <a:cxnLst/>
            <a:rect l="l" t="t" r="r" b="b"/>
            <a:pathLst>
              <a:path w="1357934" h="2959425" extrusionOk="0">
                <a:moveTo>
                  <a:pt x="0" y="0"/>
                </a:moveTo>
                <a:lnTo>
                  <a:pt x="1357934" y="0"/>
                </a:lnTo>
                <a:lnTo>
                  <a:pt x="1357934" y="2959425"/>
                </a:lnTo>
                <a:lnTo>
                  <a:pt x="0" y="2959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660" r="-2660" b="-112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3" name="Google Shape;153;g3f5dc38b4af_0_835"/>
          <p:cNvSpPr/>
          <p:nvPr/>
        </p:nvSpPr>
        <p:spPr>
          <a:xfrm>
            <a:off x="3651390" y="3017813"/>
            <a:ext cx="2715494" cy="1918755"/>
          </a:xfrm>
          <a:custGeom>
            <a:avLst/>
            <a:gdLst/>
            <a:ahLst/>
            <a:cxnLst/>
            <a:rect l="l" t="t" r="r" b="b"/>
            <a:pathLst>
              <a:path w="5298525" h="3743913" extrusionOk="0">
                <a:moveTo>
                  <a:pt x="0" y="0"/>
                </a:moveTo>
                <a:lnTo>
                  <a:pt x="5298525" y="0"/>
                </a:lnTo>
                <a:lnTo>
                  <a:pt x="5298525" y="3743912"/>
                </a:lnTo>
                <a:lnTo>
                  <a:pt x="0" y="3743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138789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54" name="Google Shape;154;g3f5dc38b4af_0_835"/>
          <p:cNvSpPr/>
          <p:nvPr/>
        </p:nvSpPr>
        <p:spPr>
          <a:xfrm>
            <a:off x="7506982" y="3088684"/>
            <a:ext cx="1411464" cy="1982875"/>
          </a:xfrm>
          <a:custGeom>
            <a:avLst/>
            <a:gdLst/>
            <a:ahLst/>
            <a:cxnLst/>
            <a:rect l="l" t="t" r="r" b="b"/>
            <a:pathLst>
              <a:path w="2754076" h="3869025" extrusionOk="0">
                <a:moveTo>
                  <a:pt x="0" y="0"/>
                </a:moveTo>
                <a:lnTo>
                  <a:pt x="2754076" y="0"/>
                </a:lnTo>
                <a:lnTo>
                  <a:pt x="2754076" y="3869025"/>
                </a:lnTo>
                <a:lnTo>
                  <a:pt x="0" y="3869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155" name="Google Shape;155;g3f5dc38b4af_0_835"/>
          <p:cNvGrpSpPr/>
          <p:nvPr/>
        </p:nvGrpSpPr>
        <p:grpSpPr>
          <a:xfrm>
            <a:off x="-176225" y="4098203"/>
            <a:ext cx="10076261" cy="1338978"/>
            <a:chOff x="0" y="0"/>
            <a:chExt cx="26199327" cy="3481483"/>
          </a:xfrm>
        </p:grpSpPr>
        <p:sp>
          <p:nvSpPr>
            <p:cNvPr id="156" name="Google Shape;156;g3f5dc38b4af_0_835"/>
            <p:cNvSpPr/>
            <p:nvPr/>
          </p:nvSpPr>
          <p:spPr>
            <a:xfrm>
              <a:off x="12771736" y="0"/>
              <a:ext cx="13427591" cy="2187917"/>
            </a:xfrm>
            <a:custGeom>
              <a:avLst/>
              <a:gdLst/>
              <a:ahLst/>
              <a:cxnLst/>
              <a:rect l="l" t="t" r="r" b="b"/>
              <a:pathLst>
                <a:path w="13427591" h="2187917" extrusionOk="0">
                  <a:moveTo>
                    <a:pt x="0" y="0"/>
                  </a:moveTo>
                  <a:lnTo>
                    <a:pt x="13427591" y="0"/>
                  </a:lnTo>
                  <a:lnTo>
                    <a:pt x="13427591" y="2187917"/>
                  </a:lnTo>
                  <a:lnTo>
                    <a:pt x="0" y="21879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t="-17001" b="-16990"/>
              </a:stretch>
            </a:blip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7" name="Google Shape;157;g3f5dc38b4af_0_835"/>
            <p:cNvSpPr/>
            <p:nvPr/>
          </p:nvSpPr>
          <p:spPr>
            <a:xfrm>
              <a:off x="12771736" y="778624"/>
              <a:ext cx="13427591" cy="2187917"/>
            </a:xfrm>
            <a:custGeom>
              <a:avLst/>
              <a:gdLst/>
              <a:ahLst/>
              <a:cxnLst/>
              <a:rect l="l" t="t" r="r" b="b"/>
              <a:pathLst>
                <a:path w="13427591" h="2187917" extrusionOk="0">
                  <a:moveTo>
                    <a:pt x="0" y="0"/>
                  </a:moveTo>
                  <a:lnTo>
                    <a:pt x="13427591" y="0"/>
                  </a:lnTo>
                  <a:lnTo>
                    <a:pt x="13427591" y="2187917"/>
                  </a:lnTo>
                  <a:lnTo>
                    <a:pt x="0" y="21879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t="-17001" b="-16990"/>
              </a:stretch>
            </a:blip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8" name="Google Shape;158;g3f5dc38b4af_0_835"/>
            <p:cNvSpPr/>
            <p:nvPr/>
          </p:nvSpPr>
          <p:spPr>
            <a:xfrm>
              <a:off x="12771736" y="1293566"/>
              <a:ext cx="13427591" cy="2187917"/>
            </a:xfrm>
            <a:custGeom>
              <a:avLst/>
              <a:gdLst/>
              <a:ahLst/>
              <a:cxnLst/>
              <a:rect l="l" t="t" r="r" b="b"/>
              <a:pathLst>
                <a:path w="13427591" h="2187917" extrusionOk="0">
                  <a:moveTo>
                    <a:pt x="0" y="0"/>
                  </a:moveTo>
                  <a:lnTo>
                    <a:pt x="13427591" y="0"/>
                  </a:lnTo>
                  <a:lnTo>
                    <a:pt x="13427591" y="2187917"/>
                  </a:lnTo>
                  <a:lnTo>
                    <a:pt x="0" y="21879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t="-17001" b="-16990"/>
              </a:stretch>
            </a:blip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9" name="Google Shape;159;g3f5dc38b4af_0_835"/>
            <p:cNvSpPr/>
            <p:nvPr/>
          </p:nvSpPr>
          <p:spPr>
            <a:xfrm>
              <a:off x="0" y="0"/>
              <a:ext cx="13427591" cy="2187917"/>
            </a:xfrm>
            <a:custGeom>
              <a:avLst/>
              <a:gdLst/>
              <a:ahLst/>
              <a:cxnLst/>
              <a:rect l="l" t="t" r="r" b="b"/>
              <a:pathLst>
                <a:path w="13427591" h="2187917" extrusionOk="0">
                  <a:moveTo>
                    <a:pt x="0" y="0"/>
                  </a:moveTo>
                  <a:lnTo>
                    <a:pt x="13427591" y="0"/>
                  </a:lnTo>
                  <a:lnTo>
                    <a:pt x="13427591" y="2187917"/>
                  </a:lnTo>
                  <a:lnTo>
                    <a:pt x="0" y="21879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t="-17001" b="-16990"/>
              </a:stretch>
            </a:blip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0" name="Google Shape;160;g3f5dc38b4af_0_835"/>
            <p:cNvSpPr/>
            <p:nvPr/>
          </p:nvSpPr>
          <p:spPr>
            <a:xfrm>
              <a:off x="0" y="778624"/>
              <a:ext cx="13427591" cy="2187917"/>
            </a:xfrm>
            <a:custGeom>
              <a:avLst/>
              <a:gdLst/>
              <a:ahLst/>
              <a:cxnLst/>
              <a:rect l="l" t="t" r="r" b="b"/>
              <a:pathLst>
                <a:path w="13427591" h="2187917" extrusionOk="0">
                  <a:moveTo>
                    <a:pt x="0" y="0"/>
                  </a:moveTo>
                  <a:lnTo>
                    <a:pt x="13427591" y="0"/>
                  </a:lnTo>
                  <a:lnTo>
                    <a:pt x="13427591" y="2187917"/>
                  </a:lnTo>
                  <a:lnTo>
                    <a:pt x="0" y="21879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t="-17001" b="-16990"/>
              </a:stretch>
            </a:blip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1" name="Google Shape;161;g3f5dc38b4af_0_835"/>
            <p:cNvSpPr/>
            <p:nvPr/>
          </p:nvSpPr>
          <p:spPr>
            <a:xfrm>
              <a:off x="0" y="1293566"/>
              <a:ext cx="13427591" cy="2187917"/>
            </a:xfrm>
            <a:custGeom>
              <a:avLst/>
              <a:gdLst/>
              <a:ahLst/>
              <a:cxnLst/>
              <a:rect l="l" t="t" r="r" b="b"/>
              <a:pathLst>
                <a:path w="13427591" h="2187917" extrusionOk="0">
                  <a:moveTo>
                    <a:pt x="0" y="0"/>
                  </a:moveTo>
                  <a:lnTo>
                    <a:pt x="13427591" y="0"/>
                  </a:lnTo>
                  <a:lnTo>
                    <a:pt x="13427591" y="2187917"/>
                  </a:lnTo>
                  <a:lnTo>
                    <a:pt x="0" y="2187917"/>
                  </a:lnTo>
                  <a:lnTo>
                    <a:pt x="0" y="0"/>
                  </a:lnTo>
                  <a:close/>
                </a:path>
              </a:pathLst>
            </a:custGeom>
            <a:blipFill rotWithShape="1">
              <a:blip r:embed="rId11">
                <a:alphaModFix/>
              </a:blip>
              <a:stretch>
                <a:fillRect t="-17001" b="-16990"/>
              </a:stretch>
            </a:blip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62" name="Google Shape;162;g3f5dc38b4af_0_835"/>
          <p:cNvSpPr/>
          <p:nvPr/>
        </p:nvSpPr>
        <p:spPr>
          <a:xfrm>
            <a:off x="6693486" y="911248"/>
            <a:ext cx="1970644" cy="999534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63" name="Google Shape;163;g3f5dc38b4af_0_835"/>
          <p:cNvSpPr/>
          <p:nvPr/>
        </p:nvSpPr>
        <p:spPr>
          <a:xfrm>
            <a:off x="564288" y="2670388"/>
            <a:ext cx="3773700" cy="646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51850" tIns="51850" rIns="51850" bIns="51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g3f5dc38b4af_0_835"/>
          <p:cNvSpPr txBox="1"/>
          <p:nvPr/>
        </p:nvSpPr>
        <p:spPr>
          <a:xfrm>
            <a:off x="0" y="166550"/>
            <a:ext cx="56502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endParaRPr sz="3600" b="0" i="0" u="none" strike="noStrike" cap="none">
              <a:solidFill>
                <a:schemeClr val="dk1"/>
              </a:solidFill>
              <a:highlight>
                <a:srgbClr val="FDE5D9"/>
              </a:highlight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165" name="Google Shape;165;g3f5dc38b4af_0_835"/>
          <p:cNvSpPr txBox="1"/>
          <p:nvPr/>
        </p:nvSpPr>
        <p:spPr>
          <a:xfrm>
            <a:off x="564288" y="609950"/>
            <a:ext cx="4195200" cy="7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500"/>
              <a:buFont typeface="Arial"/>
              <a:buNone/>
            </a:pPr>
            <a:r>
              <a:rPr lang="pt-BR" sz="4500">
                <a:solidFill>
                  <a:srgbClr val="FFF9D9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GT RAPP</a:t>
            </a:r>
            <a:endParaRPr sz="4500" b="0" i="0" u="none" strike="noStrike" cap="none">
              <a:solidFill>
                <a:srgbClr val="FFF9D9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166" name="Google Shape;166;g3f5dc38b4af_0_835"/>
          <p:cNvSpPr txBox="1"/>
          <p:nvPr/>
        </p:nvSpPr>
        <p:spPr>
          <a:xfrm>
            <a:off x="2489540" y="2329264"/>
            <a:ext cx="1916700" cy="73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850" tIns="51850" rIns="51850" bIns="5185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endParaRPr sz="1300" b="0" i="0" u="none" strike="noStrike" cap="none">
              <a:solidFill>
                <a:srgbClr val="434343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67" name="Google Shape;167;g3f5dc38b4af_0_835"/>
          <p:cNvSpPr txBox="1"/>
          <p:nvPr/>
        </p:nvSpPr>
        <p:spPr>
          <a:xfrm>
            <a:off x="853408" y="2831696"/>
            <a:ext cx="30288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850" tIns="51850" rIns="51850" bIns="518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pt-BR" sz="1800" b="1" i="0" u="none" strike="noStrike" cap="none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{{data}}</a:t>
            </a:r>
            <a:endParaRPr sz="1800" b="1" i="0" u="none" strike="noStrike" cap="none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68" name="Google Shape;168;g3f5dc38b4af_0_835" title="1 (4)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3822044" y="4312550"/>
            <a:ext cx="1618278" cy="910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A75B"/>
        </a:solidFill>
        <a:effectLst/>
      </p:bgPr>
    </p:bg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f5dc38b4af_0_1029"/>
          <p:cNvSpPr/>
          <p:nvPr/>
        </p:nvSpPr>
        <p:spPr>
          <a:xfrm>
            <a:off x="430243" y="1647934"/>
            <a:ext cx="1847631" cy="1847631"/>
          </a:xfrm>
          <a:custGeom>
            <a:avLst/>
            <a:gdLst/>
            <a:ahLst/>
            <a:cxnLst/>
            <a:rect l="l" t="t" r="r" b="b"/>
            <a:pathLst>
              <a:path w="3695263" h="3695263" extrusionOk="0">
                <a:moveTo>
                  <a:pt x="0" y="0"/>
                </a:moveTo>
                <a:lnTo>
                  <a:pt x="3695263" y="0"/>
                </a:lnTo>
                <a:lnTo>
                  <a:pt x="3695263" y="3695264"/>
                </a:lnTo>
                <a:lnTo>
                  <a:pt x="0" y="369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174" name="Google Shape;174;g3f5dc38b4af_0_1029"/>
          <p:cNvGrpSpPr/>
          <p:nvPr/>
        </p:nvGrpSpPr>
        <p:grpSpPr>
          <a:xfrm>
            <a:off x="6520761" y="-72333"/>
            <a:ext cx="4218087" cy="5216002"/>
            <a:chOff x="0" y="-38100"/>
            <a:chExt cx="2221800" cy="2747433"/>
          </a:xfrm>
        </p:grpSpPr>
        <p:sp>
          <p:nvSpPr>
            <p:cNvPr id="175" name="Google Shape;175;g3f5dc38b4af_0_1029"/>
            <p:cNvSpPr/>
            <p:nvPr/>
          </p:nvSpPr>
          <p:spPr>
            <a:xfrm>
              <a:off x="0" y="0"/>
              <a:ext cx="2221710" cy="2709333"/>
            </a:xfrm>
            <a:custGeom>
              <a:avLst/>
              <a:gdLst/>
              <a:ahLst/>
              <a:cxnLst/>
              <a:rect l="l" t="t" r="r" b="b"/>
              <a:pathLst>
                <a:path w="2221710" h="2709333" extrusionOk="0">
                  <a:moveTo>
                    <a:pt x="71586" y="0"/>
                  </a:moveTo>
                  <a:lnTo>
                    <a:pt x="2150124" y="0"/>
                  </a:lnTo>
                  <a:cubicBezTo>
                    <a:pt x="2189660" y="0"/>
                    <a:pt x="2221710" y="32050"/>
                    <a:pt x="2221710" y="71586"/>
                  </a:cubicBezTo>
                  <a:lnTo>
                    <a:pt x="2221710" y="2637747"/>
                  </a:lnTo>
                  <a:cubicBezTo>
                    <a:pt x="2221710" y="2677283"/>
                    <a:pt x="2189660" y="2709333"/>
                    <a:pt x="2150124" y="2709333"/>
                  </a:cubicBezTo>
                  <a:lnTo>
                    <a:pt x="71586" y="2709333"/>
                  </a:lnTo>
                  <a:cubicBezTo>
                    <a:pt x="32050" y="2709333"/>
                    <a:pt x="0" y="2677283"/>
                    <a:pt x="0" y="2637747"/>
                  </a:cubicBezTo>
                  <a:lnTo>
                    <a:pt x="0" y="71586"/>
                  </a:lnTo>
                  <a:cubicBezTo>
                    <a:pt x="0" y="32050"/>
                    <a:pt x="32050" y="0"/>
                    <a:pt x="71586" y="0"/>
                  </a:cubicBezTo>
                  <a:close/>
                </a:path>
              </a:pathLst>
            </a:custGeom>
            <a:solidFill>
              <a:srgbClr val="FFE13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6" name="Google Shape;176;g3f5dc38b4af_0_1029"/>
            <p:cNvSpPr txBox="1"/>
            <p:nvPr/>
          </p:nvSpPr>
          <p:spPr>
            <a:xfrm>
              <a:off x="0" y="-38100"/>
              <a:ext cx="22218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f5dc38b4af_0_1029"/>
          <p:cNvSpPr/>
          <p:nvPr/>
        </p:nvSpPr>
        <p:spPr>
          <a:xfrm>
            <a:off x="7661661" y="2513522"/>
            <a:ext cx="2221770" cy="2885039"/>
          </a:xfrm>
          <a:custGeom>
            <a:avLst/>
            <a:gdLst/>
            <a:ahLst/>
            <a:cxnLst/>
            <a:rect l="l" t="t" r="r" b="b"/>
            <a:pathLst>
              <a:path w="4443540" h="5770078" extrusionOk="0">
                <a:moveTo>
                  <a:pt x="0" y="0"/>
                </a:moveTo>
                <a:lnTo>
                  <a:pt x="4443540" y="0"/>
                </a:lnTo>
                <a:lnTo>
                  <a:pt x="4443540" y="5770079"/>
                </a:lnTo>
                <a:lnTo>
                  <a:pt x="0" y="5770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8" name="Google Shape;178;g3f5dc38b4af_0_1029"/>
          <p:cNvSpPr/>
          <p:nvPr/>
        </p:nvSpPr>
        <p:spPr>
          <a:xfrm>
            <a:off x="6320104" y="1647934"/>
            <a:ext cx="1550245" cy="3807719"/>
          </a:xfrm>
          <a:custGeom>
            <a:avLst/>
            <a:gdLst/>
            <a:ahLst/>
            <a:cxnLst/>
            <a:rect l="l" t="t" r="r" b="b"/>
            <a:pathLst>
              <a:path w="3100490" h="7615437" extrusionOk="0">
                <a:moveTo>
                  <a:pt x="0" y="0"/>
                </a:moveTo>
                <a:lnTo>
                  <a:pt x="3100490" y="0"/>
                </a:lnTo>
                <a:lnTo>
                  <a:pt x="3100490" y="7615438"/>
                </a:lnTo>
                <a:lnTo>
                  <a:pt x="0" y="7615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79" name="Google Shape;179;g3f5dc38b4af_0_1029"/>
          <p:cNvSpPr txBox="1"/>
          <p:nvPr/>
        </p:nvSpPr>
        <p:spPr>
          <a:xfrm>
            <a:off x="971842" y="2104179"/>
            <a:ext cx="718289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pt-BR" sz="3800" b="1" i="0" u="none" strike="noStrike" cap="none" dirty="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700" b="0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g3f5dc38b4af_0_1029"/>
          <p:cNvSpPr txBox="1"/>
          <p:nvPr/>
        </p:nvSpPr>
        <p:spPr>
          <a:xfrm>
            <a:off x="2619725" y="1647950"/>
            <a:ext cx="3132600" cy="18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3200" b="0" i="0" u="none" strike="noStrike" cap="none">
                <a:solidFill>
                  <a:srgbClr val="FFE6D9"/>
                </a:solidFill>
                <a:latin typeface="Nunito Black"/>
                <a:ea typeface="Nunito Black"/>
                <a:cs typeface="Nunito Black"/>
                <a:sym typeface="Nunito Black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0"/>
                  </a:ext>
                </a:extLst>
              </a:rPr>
              <a:t>Onde</a:t>
            </a:r>
            <a:r>
              <a:rPr lang="pt-BR" sz="3200" b="0" i="0" u="none" strike="noStrike" cap="none">
                <a:solidFill>
                  <a:srgbClr val="FFE6D9"/>
                </a:solidFill>
                <a:latin typeface="Nunito Black"/>
                <a:ea typeface="Nunito Black"/>
                <a:cs typeface="Nunito Black"/>
                <a:sym typeface="Nunito Black"/>
              </a:rPr>
              <a:t> estamos no ciclo?</a:t>
            </a:r>
            <a:endParaRPr sz="3200" b="0" i="0" u="none" strike="noStrike" cap="none">
              <a:solidFill>
                <a:srgbClr val="FFE6D9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40f36d5e1_5_419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186" name="Google Shape;186;g3f40f36d5e1_5_419"/>
          <p:cNvSpPr txBox="1"/>
          <p:nvPr/>
        </p:nvSpPr>
        <p:spPr>
          <a:xfrm>
            <a:off x="7540057" y="3552224"/>
            <a:ext cx="637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4250" tIns="74250" rIns="74250" bIns="742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99"/>
              <a:buFont typeface="Arial"/>
              <a:buNone/>
            </a:pPr>
            <a:r>
              <a:rPr lang="pt-BR" sz="1299" b="1" i="0" u="none" strike="noStrike" cap="non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9%</a:t>
            </a:r>
            <a:endParaRPr sz="1299" b="1" i="0" u="none" strike="noStrike" cap="non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87" name="Google Shape;187;g3f40f36d5e1_5_419" title="COMPOSICAO-01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28650" y="1310175"/>
            <a:ext cx="3579352" cy="4141548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g3f40f36d5e1_5_419"/>
          <p:cNvSpPr txBox="1"/>
          <p:nvPr/>
        </p:nvSpPr>
        <p:spPr>
          <a:xfrm>
            <a:off x="127050" y="151475"/>
            <a:ext cx="52074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5"/>
              <a:buFont typeface="Arial"/>
              <a:buNone/>
            </a:pPr>
            <a:r>
              <a:rPr lang="pt-BR" sz="2325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Onde </a:t>
            </a:r>
            <a:r>
              <a:rPr lang="pt-BR" sz="2325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1"/>
                  </a:ext>
                </a:extLst>
              </a:rPr>
              <a:t>estamos</a:t>
            </a:r>
            <a:r>
              <a:rPr lang="pt-BR" sz="2325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 no no cronograma de ciclos?</a:t>
            </a:r>
            <a:endParaRPr sz="2325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cxnSp>
        <p:nvCxnSpPr>
          <p:cNvPr id="189" name="Google Shape;189;g3f40f36d5e1_5_419"/>
          <p:cNvCxnSpPr/>
          <p:nvPr/>
        </p:nvCxnSpPr>
        <p:spPr>
          <a:xfrm>
            <a:off x="235000" y="951973"/>
            <a:ext cx="1226700" cy="0"/>
          </a:xfrm>
          <a:prstGeom prst="straightConnector1">
            <a:avLst/>
          </a:prstGeom>
          <a:noFill/>
          <a:ln w="19050" cap="flat" cmpd="sng">
            <a:solidFill>
              <a:srgbClr val="C47E3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0" name="Google Shape;190;g3f40f36d5e1_5_419"/>
          <p:cNvSpPr txBox="1"/>
          <p:nvPr/>
        </p:nvSpPr>
        <p:spPr>
          <a:xfrm>
            <a:off x="165733" y="987936"/>
            <a:ext cx="44049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Acompanhar o percurso é essencial para transformar planejamento em oportunidades reais de aprendizagem.</a:t>
            </a:r>
            <a:endParaRPr sz="12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g3f40f36d5e1_5_419"/>
          <p:cNvSpPr/>
          <p:nvPr/>
        </p:nvSpPr>
        <p:spPr>
          <a:xfrm>
            <a:off x="545440" y="1856005"/>
            <a:ext cx="1114800" cy="127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8400" tIns="88400" rIns="88400" bIns="88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endParaRPr sz="135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g3f40f36d5e1_5_419"/>
          <p:cNvSpPr/>
          <p:nvPr/>
        </p:nvSpPr>
        <p:spPr>
          <a:xfrm>
            <a:off x="1947216" y="1856005"/>
            <a:ext cx="1114800" cy="127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8400" tIns="88400" rIns="88400" bIns="88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endParaRPr sz="135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g3f40f36d5e1_5_419"/>
          <p:cNvSpPr/>
          <p:nvPr/>
        </p:nvSpPr>
        <p:spPr>
          <a:xfrm>
            <a:off x="3305364" y="1856005"/>
            <a:ext cx="1114800" cy="1272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0796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88400" tIns="88400" rIns="88400" bIns="88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endParaRPr sz="135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g3f40f36d5e1_5_419"/>
          <p:cNvSpPr/>
          <p:nvPr/>
        </p:nvSpPr>
        <p:spPr>
          <a:xfrm>
            <a:off x="4693593" y="1856005"/>
            <a:ext cx="1114800" cy="12729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8400" tIns="88400" rIns="88400" bIns="88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3"/>
              <a:buFont typeface="Arial"/>
              <a:buNone/>
            </a:pPr>
            <a:endParaRPr sz="135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5" name="Google Shape;195;g3f40f36d5e1_5_419"/>
          <p:cNvPicPr preferRelativeResize="0"/>
          <p:nvPr/>
        </p:nvPicPr>
        <p:blipFill rotWithShape="1">
          <a:blip r:embed="rId5">
            <a:alphaModFix/>
          </a:blip>
          <a:srcRect l="7167" t="8784" r="7414" b="8891"/>
          <a:stretch/>
        </p:blipFill>
        <p:spPr>
          <a:xfrm>
            <a:off x="1733526" y="2394639"/>
            <a:ext cx="140360" cy="90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g3f40f36d5e1_5_419"/>
          <p:cNvPicPr preferRelativeResize="0"/>
          <p:nvPr/>
        </p:nvPicPr>
        <p:blipFill rotWithShape="1">
          <a:blip r:embed="rId5">
            <a:alphaModFix/>
          </a:blip>
          <a:srcRect l="7167" t="8784" r="7414" b="8891"/>
          <a:stretch/>
        </p:blipFill>
        <p:spPr>
          <a:xfrm>
            <a:off x="3113485" y="2394639"/>
            <a:ext cx="140360" cy="90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g3f40f36d5e1_5_419"/>
          <p:cNvPicPr preferRelativeResize="0"/>
          <p:nvPr/>
        </p:nvPicPr>
        <p:blipFill rotWithShape="1">
          <a:blip r:embed="rId5">
            <a:alphaModFix/>
          </a:blip>
          <a:srcRect l="7167" t="8784" r="7414" b="8891"/>
          <a:stretch/>
        </p:blipFill>
        <p:spPr>
          <a:xfrm>
            <a:off x="4486679" y="2394639"/>
            <a:ext cx="140360" cy="901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g3f40f36d5e1_5_419"/>
          <p:cNvPicPr preferRelativeResize="0"/>
          <p:nvPr/>
        </p:nvPicPr>
        <p:blipFill rotWithShape="1">
          <a:blip r:embed="rId6">
            <a:alphaModFix/>
          </a:blip>
          <a:srcRect t="28631" r="74710" b="34286"/>
          <a:stretch/>
        </p:blipFill>
        <p:spPr>
          <a:xfrm>
            <a:off x="912653" y="1640637"/>
            <a:ext cx="380348" cy="371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g3f40f36d5e1_5_419"/>
          <p:cNvPicPr preferRelativeResize="0"/>
          <p:nvPr/>
        </p:nvPicPr>
        <p:blipFill rotWithShape="1">
          <a:blip r:embed="rId6">
            <a:alphaModFix/>
          </a:blip>
          <a:srcRect l="26043" t="28630" r="50588" b="34285"/>
          <a:stretch/>
        </p:blipFill>
        <p:spPr>
          <a:xfrm>
            <a:off x="2307044" y="1640625"/>
            <a:ext cx="351471" cy="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g3f40f36d5e1_5_419"/>
          <p:cNvPicPr preferRelativeResize="0"/>
          <p:nvPr/>
        </p:nvPicPr>
        <p:blipFill rotWithShape="1">
          <a:blip r:embed="rId6">
            <a:alphaModFix/>
          </a:blip>
          <a:srcRect l="50750" t="28630" r="25881" b="34285"/>
          <a:stretch/>
        </p:blipFill>
        <p:spPr>
          <a:xfrm>
            <a:off x="3701435" y="1645653"/>
            <a:ext cx="351471" cy="371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g3f40f36d5e1_5_419"/>
          <p:cNvPicPr preferRelativeResize="0"/>
          <p:nvPr/>
        </p:nvPicPr>
        <p:blipFill rotWithShape="1">
          <a:blip r:embed="rId6">
            <a:alphaModFix/>
          </a:blip>
          <a:srcRect l="74710" t="28630" b="34285"/>
          <a:stretch/>
        </p:blipFill>
        <p:spPr>
          <a:xfrm>
            <a:off x="5066977" y="1645640"/>
            <a:ext cx="380348" cy="371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f40f36d5e1_5_419"/>
          <p:cNvSpPr txBox="1"/>
          <p:nvPr/>
        </p:nvSpPr>
        <p:spPr>
          <a:xfrm>
            <a:off x="638954" y="2133009"/>
            <a:ext cx="9279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275" tIns="96275" rIns="96275" bIns="96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4"/>
              <a:buFont typeface="Arial"/>
              <a:buNone/>
            </a:pPr>
            <a:r>
              <a:rPr lang="pt-BR" sz="1474" b="1" i="0" u="none" strike="noStrike" cap="none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13/08</a:t>
            </a:r>
            <a:endParaRPr sz="1474" b="1" i="0" u="none" strike="noStrike" cap="none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3" name="Google Shape;203;g3f40f36d5e1_5_419"/>
          <p:cNvSpPr txBox="1"/>
          <p:nvPr/>
        </p:nvSpPr>
        <p:spPr>
          <a:xfrm>
            <a:off x="566314" y="2435678"/>
            <a:ext cx="10728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275" tIns="96275" rIns="96275" bIns="96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7"/>
              <a:buFont typeface="Arial"/>
              <a:buNone/>
            </a:pPr>
            <a:r>
              <a:rPr lang="pt-BR" sz="948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Início dos agendamentos</a:t>
            </a:r>
            <a:endParaRPr sz="948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4" name="Google Shape;204;g3f40f36d5e1_5_419"/>
          <p:cNvSpPr txBox="1"/>
          <p:nvPr/>
        </p:nvSpPr>
        <p:spPr>
          <a:xfrm>
            <a:off x="2061531" y="2135615"/>
            <a:ext cx="9279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275" tIns="96275" rIns="96275" bIns="96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4"/>
              <a:buFont typeface="Arial"/>
              <a:buNone/>
            </a:pPr>
            <a:r>
              <a:rPr lang="pt-BR" sz="1474" b="1" i="0" u="none" strike="noStrike" cap="none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17/08</a:t>
            </a:r>
            <a:endParaRPr sz="1474" b="1" i="0" u="none" strike="noStrike" cap="none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5" name="Google Shape;205;g3f40f36d5e1_5_419"/>
          <p:cNvSpPr txBox="1"/>
          <p:nvPr/>
        </p:nvSpPr>
        <p:spPr>
          <a:xfrm>
            <a:off x="1988891" y="2408196"/>
            <a:ext cx="10728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275" tIns="96275" rIns="96275" bIns="96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7"/>
              <a:buFont typeface="Arial"/>
              <a:buNone/>
            </a:pPr>
            <a:r>
              <a:rPr lang="pt-BR" sz="948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Início das avaliações</a:t>
            </a:r>
            <a:endParaRPr sz="948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6" name="Google Shape;206;g3f40f36d5e1_5_419"/>
          <p:cNvSpPr txBox="1"/>
          <p:nvPr/>
        </p:nvSpPr>
        <p:spPr>
          <a:xfrm>
            <a:off x="3406361" y="2126481"/>
            <a:ext cx="9279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275" tIns="96275" rIns="96275" bIns="96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4"/>
              <a:buFont typeface="Arial"/>
              <a:buNone/>
            </a:pPr>
            <a:r>
              <a:rPr lang="pt-BR" sz="1474" b="1" i="0" u="none" strike="noStrike" cap="none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HOJE</a:t>
            </a:r>
            <a:endParaRPr sz="1474" b="1" i="0" u="none" strike="noStrike" cap="none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7" name="Google Shape;207;g3f40f36d5e1_5_419"/>
          <p:cNvSpPr txBox="1"/>
          <p:nvPr/>
        </p:nvSpPr>
        <p:spPr>
          <a:xfrm>
            <a:off x="3220122" y="2399062"/>
            <a:ext cx="12918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275" tIns="96275" rIns="96275" bIns="96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7"/>
              <a:buFont typeface="Arial"/>
              <a:buNone/>
            </a:pPr>
            <a:r>
              <a:rPr lang="pt-BR" sz="948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Acompanhamento do ciclo</a:t>
            </a:r>
            <a:endParaRPr sz="948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8" name="Google Shape;208;g3f40f36d5e1_5_419"/>
          <p:cNvSpPr txBox="1"/>
          <p:nvPr/>
        </p:nvSpPr>
        <p:spPr>
          <a:xfrm>
            <a:off x="4782056" y="2115556"/>
            <a:ext cx="927900" cy="37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275" tIns="96275" rIns="96275" bIns="96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74"/>
              <a:buFont typeface="Arial"/>
              <a:buNone/>
            </a:pPr>
            <a:r>
              <a:rPr lang="pt-BR" sz="1474" b="1" i="0" u="none" strike="noStrike" cap="none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25/09</a:t>
            </a:r>
            <a:endParaRPr sz="1474" b="1" i="0" u="none" strike="noStrike" cap="none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09" name="Google Shape;209;g3f40f36d5e1_5_419"/>
          <p:cNvSpPr txBox="1"/>
          <p:nvPr/>
        </p:nvSpPr>
        <p:spPr>
          <a:xfrm>
            <a:off x="4709416" y="2388138"/>
            <a:ext cx="1072800" cy="2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6275" tIns="96275" rIns="96275" bIns="9627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7"/>
              <a:buFont typeface="Arial"/>
              <a:buNone/>
            </a:pPr>
            <a:r>
              <a:rPr lang="pt-BR" sz="948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Encerramento do 1º Ciclo</a:t>
            </a:r>
            <a:endParaRPr sz="948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0" name="Google Shape;210;g3f40f36d5e1_5_419"/>
          <p:cNvSpPr/>
          <p:nvPr/>
        </p:nvSpPr>
        <p:spPr>
          <a:xfrm>
            <a:off x="5535227" y="775125"/>
            <a:ext cx="2230246" cy="5352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74300" tIns="74300" rIns="74300" bIns="74300" anchor="ctr" anchorCtr="0">
            <a:noAutofit/>
          </a:bodyPr>
          <a:lstStyle/>
          <a:p>
            <a:pPr lvl="0" algn="ctr">
              <a:buSzPts val="1194"/>
            </a:pPr>
            <a:r>
              <a:rPr lang="pt-BR" sz="1194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Faltam </a:t>
            </a:r>
            <a:r>
              <a:rPr lang="pt-BR" sz="1200" b="1" dirty="0">
                <a:solidFill>
                  <a:schemeClr val="lt1"/>
                </a:solidFill>
                <a:highlight>
                  <a:srgbClr val="085630"/>
                </a:highlight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1200" b="1" dirty="0" err="1">
                <a:solidFill>
                  <a:schemeClr val="lt1"/>
                </a:solidFill>
                <a:highlight>
                  <a:srgbClr val="085630"/>
                </a:highlight>
                <a:latin typeface="Nunito"/>
                <a:ea typeface="Nunito"/>
                <a:cs typeface="Nunito"/>
                <a:sym typeface="Nunito"/>
              </a:rPr>
              <a:t>d_falta</a:t>
            </a:r>
            <a:r>
              <a:rPr lang="pt-BR" sz="1200" b="1" dirty="0">
                <a:solidFill>
                  <a:schemeClr val="lt1"/>
                </a:solidFill>
                <a:highlight>
                  <a:srgbClr val="085630"/>
                </a:highlight>
                <a:latin typeface="Nunito"/>
                <a:ea typeface="Nunito"/>
                <a:cs typeface="Nunito"/>
                <a:sym typeface="Nunito"/>
              </a:rPr>
              <a:t>}}</a:t>
            </a:r>
            <a:r>
              <a:rPr lang="pt-BR" sz="1194" b="0" i="0" u="none" strike="noStrike" cap="none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pt-BR" sz="1194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dias </a:t>
            </a:r>
            <a:br>
              <a:rPr lang="pt-BR" sz="1194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BR" sz="1194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para acabar 2º o ciclo</a:t>
            </a:r>
            <a:endParaRPr sz="1194" b="0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11" name="Google Shape;211;g3f40f36d5e1_5_419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12" name="Google Shape;212;g3f40f36d5e1_5_419"/>
          <p:cNvSpPr/>
          <p:nvPr/>
        </p:nvSpPr>
        <p:spPr>
          <a:xfrm>
            <a:off x="142140" y="2302251"/>
            <a:ext cx="380400" cy="380400"/>
          </a:xfrm>
          <a:prstGeom prst="ellipse">
            <a:avLst/>
          </a:prstGeom>
          <a:solidFill>
            <a:srgbClr val="C47E3C"/>
          </a:solidFill>
          <a:ln w="11025" cap="flat" cmpd="sng">
            <a:solidFill>
              <a:srgbClr val="C4803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9225" tIns="79225" rIns="79225" bIns="792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98"/>
              <a:buFont typeface="Calibri"/>
              <a:buNone/>
            </a:pPr>
            <a:r>
              <a:rPr lang="pt-BR" sz="1540" b="1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A75B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f8812c830a_0_97"/>
          <p:cNvSpPr/>
          <p:nvPr/>
        </p:nvSpPr>
        <p:spPr>
          <a:xfrm>
            <a:off x="430243" y="1647934"/>
            <a:ext cx="1847631" cy="1847631"/>
          </a:xfrm>
          <a:custGeom>
            <a:avLst/>
            <a:gdLst/>
            <a:ahLst/>
            <a:cxnLst/>
            <a:rect l="l" t="t" r="r" b="b"/>
            <a:pathLst>
              <a:path w="3695263" h="3695263" extrusionOk="0">
                <a:moveTo>
                  <a:pt x="0" y="0"/>
                </a:moveTo>
                <a:lnTo>
                  <a:pt x="3695263" y="0"/>
                </a:lnTo>
                <a:lnTo>
                  <a:pt x="3695263" y="3695264"/>
                </a:lnTo>
                <a:lnTo>
                  <a:pt x="0" y="369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218" name="Google Shape;218;g3f8812c830a_0_97"/>
          <p:cNvGrpSpPr/>
          <p:nvPr/>
        </p:nvGrpSpPr>
        <p:grpSpPr>
          <a:xfrm>
            <a:off x="6520761" y="-72333"/>
            <a:ext cx="4218087" cy="5216002"/>
            <a:chOff x="0" y="-38100"/>
            <a:chExt cx="2221800" cy="2747433"/>
          </a:xfrm>
        </p:grpSpPr>
        <p:sp>
          <p:nvSpPr>
            <p:cNvPr id="219" name="Google Shape;219;g3f8812c830a_0_97"/>
            <p:cNvSpPr/>
            <p:nvPr/>
          </p:nvSpPr>
          <p:spPr>
            <a:xfrm>
              <a:off x="0" y="0"/>
              <a:ext cx="2221710" cy="2709333"/>
            </a:xfrm>
            <a:custGeom>
              <a:avLst/>
              <a:gdLst/>
              <a:ahLst/>
              <a:cxnLst/>
              <a:rect l="l" t="t" r="r" b="b"/>
              <a:pathLst>
                <a:path w="2221710" h="2709333" extrusionOk="0">
                  <a:moveTo>
                    <a:pt x="71586" y="0"/>
                  </a:moveTo>
                  <a:lnTo>
                    <a:pt x="2150124" y="0"/>
                  </a:lnTo>
                  <a:cubicBezTo>
                    <a:pt x="2189660" y="0"/>
                    <a:pt x="2221710" y="32050"/>
                    <a:pt x="2221710" y="71586"/>
                  </a:cubicBezTo>
                  <a:lnTo>
                    <a:pt x="2221710" y="2637747"/>
                  </a:lnTo>
                  <a:cubicBezTo>
                    <a:pt x="2221710" y="2677283"/>
                    <a:pt x="2189660" y="2709333"/>
                    <a:pt x="2150124" y="2709333"/>
                  </a:cubicBezTo>
                  <a:lnTo>
                    <a:pt x="71586" y="2709333"/>
                  </a:lnTo>
                  <a:cubicBezTo>
                    <a:pt x="32050" y="2709333"/>
                    <a:pt x="0" y="2677283"/>
                    <a:pt x="0" y="2637747"/>
                  </a:cubicBezTo>
                  <a:lnTo>
                    <a:pt x="0" y="71586"/>
                  </a:lnTo>
                  <a:cubicBezTo>
                    <a:pt x="0" y="32050"/>
                    <a:pt x="32050" y="0"/>
                    <a:pt x="71586" y="0"/>
                  </a:cubicBezTo>
                  <a:close/>
                </a:path>
              </a:pathLst>
            </a:custGeom>
            <a:solidFill>
              <a:srgbClr val="FFE13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0" name="Google Shape;220;g3f8812c830a_0_97"/>
            <p:cNvSpPr txBox="1"/>
            <p:nvPr/>
          </p:nvSpPr>
          <p:spPr>
            <a:xfrm>
              <a:off x="0" y="-38100"/>
              <a:ext cx="22218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1" name="Google Shape;221;g3f8812c830a_0_97"/>
          <p:cNvSpPr/>
          <p:nvPr/>
        </p:nvSpPr>
        <p:spPr>
          <a:xfrm>
            <a:off x="7661661" y="2513522"/>
            <a:ext cx="2221770" cy="2885039"/>
          </a:xfrm>
          <a:custGeom>
            <a:avLst/>
            <a:gdLst/>
            <a:ahLst/>
            <a:cxnLst/>
            <a:rect l="l" t="t" r="r" b="b"/>
            <a:pathLst>
              <a:path w="4443540" h="5770078" extrusionOk="0">
                <a:moveTo>
                  <a:pt x="0" y="0"/>
                </a:moveTo>
                <a:lnTo>
                  <a:pt x="4443540" y="0"/>
                </a:lnTo>
                <a:lnTo>
                  <a:pt x="4443540" y="5770079"/>
                </a:lnTo>
                <a:lnTo>
                  <a:pt x="0" y="5770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2" name="Google Shape;222;g3f8812c830a_0_97"/>
          <p:cNvSpPr/>
          <p:nvPr/>
        </p:nvSpPr>
        <p:spPr>
          <a:xfrm>
            <a:off x="6320104" y="1647934"/>
            <a:ext cx="1550245" cy="3807719"/>
          </a:xfrm>
          <a:custGeom>
            <a:avLst/>
            <a:gdLst/>
            <a:ahLst/>
            <a:cxnLst/>
            <a:rect l="l" t="t" r="r" b="b"/>
            <a:pathLst>
              <a:path w="3100490" h="7615437" extrusionOk="0">
                <a:moveTo>
                  <a:pt x="0" y="0"/>
                </a:moveTo>
                <a:lnTo>
                  <a:pt x="3100490" y="0"/>
                </a:lnTo>
                <a:lnTo>
                  <a:pt x="3100490" y="7615438"/>
                </a:lnTo>
                <a:lnTo>
                  <a:pt x="0" y="7615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23" name="Google Shape;223;g3f8812c830a_0_97"/>
          <p:cNvSpPr txBox="1"/>
          <p:nvPr/>
        </p:nvSpPr>
        <p:spPr>
          <a:xfrm>
            <a:off x="998377" y="2162406"/>
            <a:ext cx="711362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pt-BR" sz="3800" b="1" i="0" u="none" strike="noStrike" cap="none" dirty="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700" b="0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g3f8812c830a_0_97"/>
          <p:cNvSpPr txBox="1"/>
          <p:nvPr/>
        </p:nvSpPr>
        <p:spPr>
          <a:xfrm>
            <a:off x="2619725" y="1647950"/>
            <a:ext cx="3132600" cy="18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3200" b="0" i="0" u="none" strike="noStrike" cap="none">
                <a:solidFill>
                  <a:srgbClr val="FFE6D9"/>
                </a:solidFill>
                <a:latin typeface="Nunito Black"/>
                <a:ea typeface="Nunito Black"/>
                <a:cs typeface="Nunito Black"/>
                <a:sym typeface="Nunito Black"/>
              </a:rPr>
              <a:t>Panorama geral </a:t>
            </a:r>
            <a:endParaRPr sz="3200" b="0" i="0" u="none" strike="noStrike" cap="none">
              <a:solidFill>
                <a:srgbClr val="FFE6D9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f6945d5577_0_0"/>
          <p:cNvSpPr/>
          <p:nvPr/>
        </p:nvSpPr>
        <p:spPr>
          <a:xfrm>
            <a:off x="5024153" y="1358533"/>
            <a:ext cx="1735500" cy="2163000"/>
          </a:xfrm>
          <a:prstGeom prst="rect">
            <a:avLst/>
          </a:prstGeom>
          <a:solidFill>
            <a:srgbClr val="FFF3B8"/>
          </a:solidFill>
          <a:ln>
            <a:noFill/>
          </a:ln>
        </p:spPr>
        <p:txBody>
          <a:bodyPr spcFirstLastPara="1" wrap="square" lIns="61400" tIns="61400" rIns="61400" bIns="6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1"/>
              <a:buFont typeface="Arial"/>
              <a:buNone/>
            </a:pPr>
            <a:endParaRPr sz="94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g3f6945d5577_0_0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31" name="Google Shape;231;g3f6945d5577_0_0"/>
          <p:cNvSpPr txBox="1"/>
          <p:nvPr/>
        </p:nvSpPr>
        <p:spPr>
          <a:xfrm>
            <a:off x="127050" y="151475"/>
            <a:ext cx="72585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43478"/>
              <a:buFont typeface="Arial"/>
              <a:buNone/>
            </a:pPr>
            <a:r>
              <a:rPr lang="pt-BR" sz="23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Panorama geral </a:t>
            </a:r>
            <a:r>
              <a:rPr lang="pt-BR" sz="23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2"/>
                  </a:ext>
                </a:extLst>
              </a:rPr>
              <a:t>RAPP</a:t>
            </a:r>
            <a:r>
              <a:rPr lang="pt-BR" sz="23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 (Avalia Potiguar + Plurall) </a:t>
            </a:r>
            <a:endParaRPr sz="23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232" name="Google Shape;232;g3f6945d5577_0_0"/>
          <p:cNvSpPr txBox="1"/>
          <p:nvPr/>
        </p:nvSpPr>
        <p:spPr>
          <a:xfrm>
            <a:off x="127176" y="515948"/>
            <a:ext cx="3945600" cy="4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accent6"/>
                </a:solidFill>
                <a:latin typeface="Nunito"/>
                <a:ea typeface="Nunito"/>
                <a:cs typeface="Nunito"/>
                <a:sym typeface="Nunito"/>
              </a:rPr>
              <a:t>Onde estamos em relação ao esperado? </a:t>
            </a:r>
            <a:endParaRPr sz="1600" b="0" i="0" u="none" strike="noStrike" cap="none">
              <a:solidFill>
                <a:schemeClr val="accent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33" name="Google Shape;233;g3f6945d5577_0_0"/>
          <p:cNvSpPr/>
          <p:nvPr/>
        </p:nvSpPr>
        <p:spPr>
          <a:xfrm>
            <a:off x="2957525" y="1344664"/>
            <a:ext cx="1735500" cy="21630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61400" tIns="61400" rIns="61400" bIns="6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1"/>
              <a:buFont typeface="Arial"/>
              <a:buNone/>
            </a:pPr>
            <a:endParaRPr sz="94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g3f6945d5577_0_0"/>
          <p:cNvSpPr txBox="1"/>
          <p:nvPr/>
        </p:nvSpPr>
        <p:spPr>
          <a:xfrm>
            <a:off x="2963284" y="1810296"/>
            <a:ext cx="1690355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None/>
            </a:pPr>
            <a:r>
              <a:rPr lang="pt-BR" sz="1200" b="1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{{%_agendamento}}</a:t>
            </a:r>
            <a:endParaRPr sz="1200" b="1" i="0" u="none" strike="noStrike" cap="none" dirty="0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grpSp>
        <p:nvGrpSpPr>
          <p:cNvPr id="236" name="Google Shape;236;g3f6945d5577_0_0"/>
          <p:cNvGrpSpPr/>
          <p:nvPr/>
        </p:nvGrpSpPr>
        <p:grpSpPr>
          <a:xfrm>
            <a:off x="3049842" y="1455330"/>
            <a:ext cx="189008" cy="155824"/>
            <a:chOff x="3599425" y="3599275"/>
            <a:chExt cx="152450" cy="125675"/>
          </a:xfrm>
        </p:grpSpPr>
        <p:sp>
          <p:nvSpPr>
            <p:cNvPr id="237" name="Google Shape;237;g3f6945d5577_0_0"/>
            <p:cNvSpPr/>
            <p:nvPr/>
          </p:nvSpPr>
          <p:spPr>
            <a:xfrm>
              <a:off x="3599425" y="3599275"/>
              <a:ext cx="152450" cy="125675"/>
            </a:xfrm>
            <a:custGeom>
              <a:avLst/>
              <a:gdLst/>
              <a:ahLst/>
              <a:cxnLst/>
              <a:rect l="l" t="t" r="r" b="b"/>
              <a:pathLst>
                <a:path w="6098" h="5027" extrusionOk="0">
                  <a:moveTo>
                    <a:pt x="5839" y="708"/>
                  </a:moveTo>
                  <a:lnTo>
                    <a:pt x="5839" y="1698"/>
                  </a:lnTo>
                  <a:lnTo>
                    <a:pt x="259" y="1698"/>
                  </a:lnTo>
                  <a:lnTo>
                    <a:pt x="259" y="708"/>
                  </a:lnTo>
                  <a:lnTo>
                    <a:pt x="1391" y="708"/>
                  </a:lnTo>
                  <a:lnTo>
                    <a:pt x="1391" y="1009"/>
                  </a:lnTo>
                  <a:cubicBezTo>
                    <a:pt x="1391" y="1077"/>
                    <a:pt x="1453" y="1138"/>
                    <a:pt x="1527" y="1138"/>
                  </a:cubicBezTo>
                  <a:cubicBezTo>
                    <a:pt x="1594" y="1138"/>
                    <a:pt x="1656" y="1077"/>
                    <a:pt x="1656" y="1009"/>
                  </a:cubicBezTo>
                  <a:lnTo>
                    <a:pt x="1656" y="708"/>
                  </a:lnTo>
                  <a:lnTo>
                    <a:pt x="4424" y="708"/>
                  </a:lnTo>
                  <a:lnTo>
                    <a:pt x="4424" y="1009"/>
                  </a:lnTo>
                  <a:cubicBezTo>
                    <a:pt x="4424" y="1077"/>
                    <a:pt x="4486" y="1138"/>
                    <a:pt x="4553" y="1138"/>
                  </a:cubicBezTo>
                  <a:cubicBezTo>
                    <a:pt x="4627" y="1138"/>
                    <a:pt x="4683" y="1077"/>
                    <a:pt x="4683" y="1009"/>
                  </a:cubicBezTo>
                  <a:lnTo>
                    <a:pt x="4683" y="708"/>
                  </a:lnTo>
                  <a:close/>
                  <a:moveTo>
                    <a:pt x="5839" y="1957"/>
                  </a:moveTo>
                  <a:lnTo>
                    <a:pt x="5839" y="4768"/>
                  </a:lnTo>
                  <a:lnTo>
                    <a:pt x="259" y="4768"/>
                  </a:lnTo>
                  <a:lnTo>
                    <a:pt x="259" y="1957"/>
                  </a:lnTo>
                  <a:close/>
                  <a:moveTo>
                    <a:pt x="1527" y="0"/>
                  </a:moveTo>
                  <a:cubicBezTo>
                    <a:pt x="1453" y="0"/>
                    <a:pt x="1391" y="56"/>
                    <a:pt x="1391" y="129"/>
                  </a:cubicBezTo>
                  <a:lnTo>
                    <a:pt x="1391" y="449"/>
                  </a:lnTo>
                  <a:lnTo>
                    <a:pt x="130" y="449"/>
                  </a:lnTo>
                  <a:cubicBezTo>
                    <a:pt x="56" y="449"/>
                    <a:pt x="1" y="505"/>
                    <a:pt x="1" y="578"/>
                  </a:cubicBezTo>
                  <a:lnTo>
                    <a:pt x="1" y="1827"/>
                  </a:lnTo>
                  <a:lnTo>
                    <a:pt x="1" y="4897"/>
                  </a:lnTo>
                  <a:cubicBezTo>
                    <a:pt x="1" y="4971"/>
                    <a:pt x="56" y="5026"/>
                    <a:pt x="130" y="5026"/>
                  </a:cubicBezTo>
                  <a:lnTo>
                    <a:pt x="5968" y="5026"/>
                  </a:lnTo>
                  <a:cubicBezTo>
                    <a:pt x="6042" y="5026"/>
                    <a:pt x="6098" y="4971"/>
                    <a:pt x="6098" y="4897"/>
                  </a:cubicBezTo>
                  <a:lnTo>
                    <a:pt x="6098" y="1827"/>
                  </a:lnTo>
                  <a:lnTo>
                    <a:pt x="6098" y="578"/>
                  </a:lnTo>
                  <a:cubicBezTo>
                    <a:pt x="6098" y="505"/>
                    <a:pt x="6042" y="449"/>
                    <a:pt x="5968" y="449"/>
                  </a:cubicBezTo>
                  <a:lnTo>
                    <a:pt x="4683" y="449"/>
                  </a:lnTo>
                  <a:lnTo>
                    <a:pt x="4683" y="129"/>
                  </a:lnTo>
                  <a:cubicBezTo>
                    <a:pt x="4683" y="56"/>
                    <a:pt x="4627" y="0"/>
                    <a:pt x="4553" y="0"/>
                  </a:cubicBezTo>
                  <a:cubicBezTo>
                    <a:pt x="4486" y="0"/>
                    <a:pt x="4424" y="56"/>
                    <a:pt x="4424" y="129"/>
                  </a:cubicBezTo>
                  <a:lnTo>
                    <a:pt x="4424" y="449"/>
                  </a:lnTo>
                  <a:lnTo>
                    <a:pt x="1656" y="449"/>
                  </a:lnTo>
                  <a:lnTo>
                    <a:pt x="1656" y="129"/>
                  </a:lnTo>
                  <a:cubicBezTo>
                    <a:pt x="1656" y="56"/>
                    <a:pt x="1594" y="0"/>
                    <a:pt x="1527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g3f6945d5577_0_0"/>
            <p:cNvSpPr/>
            <p:nvPr/>
          </p:nvSpPr>
          <p:spPr>
            <a:xfrm>
              <a:off x="3626050" y="3662175"/>
              <a:ext cx="16000" cy="16175"/>
            </a:xfrm>
            <a:custGeom>
              <a:avLst/>
              <a:gdLst/>
              <a:ahLst/>
              <a:cxnLst/>
              <a:rect l="l" t="t" r="r" b="b"/>
              <a:pathLst>
                <a:path w="640" h="647" extrusionOk="0">
                  <a:moveTo>
                    <a:pt x="129" y="0"/>
                  </a:moveTo>
                  <a:cubicBezTo>
                    <a:pt x="56" y="0"/>
                    <a:pt x="0" y="62"/>
                    <a:pt x="0" y="136"/>
                  </a:cubicBezTo>
                  <a:lnTo>
                    <a:pt x="0" y="517"/>
                  </a:lnTo>
                  <a:cubicBezTo>
                    <a:pt x="0" y="585"/>
                    <a:pt x="56" y="646"/>
                    <a:pt x="129" y="646"/>
                  </a:cubicBezTo>
                  <a:lnTo>
                    <a:pt x="511" y="646"/>
                  </a:lnTo>
                  <a:cubicBezTo>
                    <a:pt x="578" y="646"/>
                    <a:pt x="640" y="585"/>
                    <a:pt x="640" y="517"/>
                  </a:cubicBezTo>
                  <a:lnTo>
                    <a:pt x="640" y="136"/>
                  </a:lnTo>
                  <a:cubicBezTo>
                    <a:pt x="640" y="62"/>
                    <a:pt x="578" y="0"/>
                    <a:pt x="511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g3f6945d5577_0_0"/>
            <p:cNvSpPr/>
            <p:nvPr/>
          </p:nvSpPr>
          <p:spPr>
            <a:xfrm>
              <a:off x="3653725" y="3662175"/>
              <a:ext cx="16025" cy="16175"/>
            </a:xfrm>
            <a:custGeom>
              <a:avLst/>
              <a:gdLst/>
              <a:ahLst/>
              <a:cxnLst/>
              <a:rect l="l" t="t" r="r" b="b"/>
              <a:pathLst>
                <a:path w="641" h="647" extrusionOk="0">
                  <a:moveTo>
                    <a:pt x="130" y="0"/>
                  </a:moveTo>
                  <a:cubicBezTo>
                    <a:pt x="62" y="0"/>
                    <a:pt x="1" y="62"/>
                    <a:pt x="1" y="136"/>
                  </a:cubicBezTo>
                  <a:lnTo>
                    <a:pt x="1" y="517"/>
                  </a:lnTo>
                  <a:cubicBezTo>
                    <a:pt x="1" y="585"/>
                    <a:pt x="62" y="646"/>
                    <a:pt x="130" y="646"/>
                  </a:cubicBezTo>
                  <a:lnTo>
                    <a:pt x="511" y="646"/>
                  </a:lnTo>
                  <a:cubicBezTo>
                    <a:pt x="585" y="646"/>
                    <a:pt x="640" y="585"/>
                    <a:pt x="640" y="517"/>
                  </a:cubicBezTo>
                  <a:lnTo>
                    <a:pt x="640" y="136"/>
                  </a:lnTo>
                  <a:cubicBezTo>
                    <a:pt x="640" y="62"/>
                    <a:pt x="585" y="0"/>
                    <a:pt x="511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g3f6945d5577_0_0"/>
            <p:cNvSpPr/>
            <p:nvPr/>
          </p:nvSpPr>
          <p:spPr>
            <a:xfrm>
              <a:off x="3681575" y="3662175"/>
              <a:ext cx="16000" cy="16175"/>
            </a:xfrm>
            <a:custGeom>
              <a:avLst/>
              <a:gdLst/>
              <a:ahLst/>
              <a:cxnLst/>
              <a:rect l="l" t="t" r="r" b="b"/>
              <a:pathLst>
                <a:path w="640" h="647" extrusionOk="0">
                  <a:moveTo>
                    <a:pt x="129" y="0"/>
                  </a:moveTo>
                  <a:cubicBezTo>
                    <a:pt x="55" y="0"/>
                    <a:pt x="0" y="62"/>
                    <a:pt x="0" y="136"/>
                  </a:cubicBezTo>
                  <a:lnTo>
                    <a:pt x="0" y="517"/>
                  </a:lnTo>
                  <a:cubicBezTo>
                    <a:pt x="0" y="585"/>
                    <a:pt x="55" y="646"/>
                    <a:pt x="129" y="646"/>
                  </a:cubicBezTo>
                  <a:lnTo>
                    <a:pt x="511" y="646"/>
                  </a:lnTo>
                  <a:cubicBezTo>
                    <a:pt x="585" y="646"/>
                    <a:pt x="640" y="585"/>
                    <a:pt x="640" y="517"/>
                  </a:cubicBezTo>
                  <a:lnTo>
                    <a:pt x="640" y="136"/>
                  </a:lnTo>
                  <a:cubicBezTo>
                    <a:pt x="640" y="62"/>
                    <a:pt x="585" y="0"/>
                    <a:pt x="511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g3f6945d5577_0_0"/>
            <p:cNvSpPr/>
            <p:nvPr/>
          </p:nvSpPr>
          <p:spPr>
            <a:xfrm>
              <a:off x="3709250" y="3662175"/>
              <a:ext cx="16175" cy="16175"/>
            </a:xfrm>
            <a:custGeom>
              <a:avLst/>
              <a:gdLst/>
              <a:ahLst/>
              <a:cxnLst/>
              <a:rect l="l" t="t" r="r" b="b"/>
              <a:pathLst>
                <a:path w="647" h="647" extrusionOk="0">
                  <a:moveTo>
                    <a:pt x="130" y="0"/>
                  </a:moveTo>
                  <a:cubicBezTo>
                    <a:pt x="62" y="0"/>
                    <a:pt x="0" y="62"/>
                    <a:pt x="0" y="136"/>
                  </a:cubicBezTo>
                  <a:lnTo>
                    <a:pt x="0" y="517"/>
                  </a:lnTo>
                  <a:cubicBezTo>
                    <a:pt x="0" y="585"/>
                    <a:pt x="62" y="646"/>
                    <a:pt x="130" y="646"/>
                  </a:cubicBezTo>
                  <a:lnTo>
                    <a:pt x="517" y="646"/>
                  </a:lnTo>
                  <a:cubicBezTo>
                    <a:pt x="585" y="646"/>
                    <a:pt x="646" y="585"/>
                    <a:pt x="646" y="517"/>
                  </a:cubicBezTo>
                  <a:lnTo>
                    <a:pt x="646" y="136"/>
                  </a:lnTo>
                  <a:cubicBezTo>
                    <a:pt x="646" y="62"/>
                    <a:pt x="585" y="0"/>
                    <a:pt x="517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g3f6945d5577_0_0"/>
            <p:cNvSpPr/>
            <p:nvPr/>
          </p:nvSpPr>
          <p:spPr>
            <a:xfrm>
              <a:off x="3626050" y="3688175"/>
              <a:ext cx="16000" cy="16000"/>
            </a:xfrm>
            <a:custGeom>
              <a:avLst/>
              <a:gdLst/>
              <a:ahLst/>
              <a:cxnLst/>
              <a:rect l="l" t="t" r="r" b="b"/>
              <a:pathLst>
                <a:path w="640" h="640" extrusionOk="0">
                  <a:moveTo>
                    <a:pt x="129" y="0"/>
                  </a:moveTo>
                  <a:cubicBezTo>
                    <a:pt x="56" y="0"/>
                    <a:pt x="0" y="55"/>
                    <a:pt x="0" y="129"/>
                  </a:cubicBezTo>
                  <a:lnTo>
                    <a:pt x="0" y="511"/>
                  </a:lnTo>
                  <a:cubicBezTo>
                    <a:pt x="0" y="578"/>
                    <a:pt x="56" y="640"/>
                    <a:pt x="129" y="640"/>
                  </a:cubicBezTo>
                  <a:lnTo>
                    <a:pt x="511" y="640"/>
                  </a:lnTo>
                  <a:cubicBezTo>
                    <a:pt x="578" y="640"/>
                    <a:pt x="640" y="578"/>
                    <a:pt x="640" y="511"/>
                  </a:cubicBezTo>
                  <a:lnTo>
                    <a:pt x="640" y="129"/>
                  </a:lnTo>
                  <a:cubicBezTo>
                    <a:pt x="640" y="55"/>
                    <a:pt x="578" y="0"/>
                    <a:pt x="511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g3f6945d5577_0_0"/>
            <p:cNvSpPr/>
            <p:nvPr/>
          </p:nvSpPr>
          <p:spPr>
            <a:xfrm>
              <a:off x="3653725" y="3688175"/>
              <a:ext cx="16025" cy="16000"/>
            </a:xfrm>
            <a:custGeom>
              <a:avLst/>
              <a:gdLst/>
              <a:ahLst/>
              <a:cxnLst/>
              <a:rect l="l" t="t" r="r" b="b"/>
              <a:pathLst>
                <a:path w="641" h="640" extrusionOk="0">
                  <a:moveTo>
                    <a:pt x="130" y="0"/>
                  </a:moveTo>
                  <a:cubicBezTo>
                    <a:pt x="62" y="0"/>
                    <a:pt x="1" y="55"/>
                    <a:pt x="1" y="129"/>
                  </a:cubicBezTo>
                  <a:lnTo>
                    <a:pt x="1" y="511"/>
                  </a:lnTo>
                  <a:cubicBezTo>
                    <a:pt x="1" y="578"/>
                    <a:pt x="62" y="640"/>
                    <a:pt x="130" y="640"/>
                  </a:cubicBezTo>
                  <a:lnTo>
                    <a:pt x="511" y="640"/>
                  </a:lnTo>
                  <a:cubicBezTo>
                    <a:pt x="585" y="640"/>
                    <a:pt x="640" y="578"/>
                    <a:pt x="640" y="511"/>
                  </a:cubicBezTo>
                  <a:lnTo>
                    <a:pt x="640" y="129"/>
                  </a:lnTo>
                  <a:cubicBezTo>
                    <a:pt x="640" y="55"/>
                    <a:pt x="585" y="0"/>
                    <a:pt x="511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g3f6945d5577_0_0"/>
            <p:cNvSpPr/>
            <p:nvPr/>
          </p:nvSpPr>
          <p:spPr>
            <a:xfrm>
              <a:off x="3681575" y="3688175"/>
              <a:ext cx="16000" cy="16000"/>
            </a:xfrm>
            <a:custGeom>
              <a:avLst/>
              <a:gdLst/>
              <a:ahLst/>
              <a:cxnLst/>
              <a:rect l="l" t="t" r="r" b="b"/>
              <a:pathLst>
                <a:path w="640" h="640" extrusionOk="0">
                  <a:moveTo>
                    <a:pt x="129" y="0"/>
                  </a:moveTo>
                  <a:cubicBezTo>
                    <a:pt x="55" y="0"/>
                    <a:pt x="0" y="55"/>
                    <a:pt x="0" y="129"/>
                  </a:cubicBezTo>
                  <a:lnTo>
                    <a:pt x="0" y="511"/>
                  </a:lnTo>
                  <a:cubicBezTo>
                    <a:pt x="0" y="578"/>
                    <a:pt x="55" y="640"/>
                    <a:pt x="129" y="640"/>
                  </a:cubicBezTo>
                  <a:lnTo>
                    <a:pt x="511" y="640"/>
                  </a:lnTo>
                  <a:cubicBezTo>
                    <a:pt x="585" y="640"/>
                    <a:pt x="640" y="578"/>
                    <a:pt x="640" y="511"/>
                  </a:cubicBezTo>
                  <a:lnTo>
                    <a:pt x="640" y="129"/>
                  </a:lnTo>
                  <a:cubicBezTo>
                    <a:pt x="640" y="55"/>
                    <a:pt x="585" y="0"/>
                    <a:pt x="511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g3f6945d5577_0_0"/>
            <p:cNvSpPr/>
            <p:nvPr/>
          </p:nvSpPr>
          <p:spPr>
            <a:xfrm>
              <a:off x="3709250" y="3688175"/>
              <a:ext cx="16175" cy="16000"/>
            </a:xfrm>
            <a:custGeom>
              <a:avLst/>
              <a:gdLst/>
              <a:ahLst/>
              <a:cxnLst/>
              <a:rect l="l" t="t" r="r" b="b"/>
              <a:pathLst>
                <a:path w="647" h="640" extrusionOk="0">
                  <a:moveTo>
                    <a:pt x="130" y="0"/>
                  </a:moveTo>
                  <a:cubicBezTo>
                    <a:pt x="62" y="0"/>
                    <a:pt x="0" y="55"/>
                    <a:pt x="0" y="129"/>
                  </a:cubicBezTo>
                  <a:lnTo>
                    <a:pt x="0" y="511"/>
                  </a:lnTo>
                  <a:cubicBezTo>
                    <a:pt x="0" y="578"/>
                    <a:pt x="62" y="640"/>
                    <a:pt x="130" y="640"/>
                  </a:cubicBezTo>
                  <a:lnTo>
                    <a:pt x="517" y="640"/>
                  </a:lnTo>
                  <a:cubicBezTo>
                    <a:pt x="585" y="640"/>
                    <a:pt x="646" y="578"/>
                    <a:pt x="646" y="511"/>
                  </a:cubicBezTo>
                  <a:lnTo>
                    <a:pt x="646" y="129"/>
                  </a:lnTo>
                  <a:cubicBezTo>
                    <a:pt x="646" y="55"/>
                    <a:pt x="585" y="0"/>
                    <a:pt x="517" y="0"/>
                  </a:cubicBezTo>
                  <a:close/>
                </a:path>
              </a:pathLst>
            </a:custGeom>
            <a:solidFill>
              <a:srgbClr val="1D9E75"/>
            </a:solidFill>
            <a:ln>
              <a:noFill/>
            </a:ln>
          </p:spPr>
          <p:txBody>
            <a:bodyPr spcFirstLastPara="1" wrap="square" lIns="29600" tIns="29600" rIns="29600" bIns="296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522"/>
                <a:buFont typeface="Arial"/>
                <a:buNone/>
              </a:pPr>
              <a:endParaRPr sz="522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6" name="Google Shape;246;g3f6945d5577_0_0"/>
          <p:cNvGrpSpPr/>
          <p:nvPr/>
        </p:nvGrpSpPr>
        <p:grpSpPr>
          <a:xfrm>
            <a:off x="5116467" y="1435627"/>
            <a:ext cx="269144" cy="222114"/>
            <a:chOff x="4219114" y="4374373"/>
            <a:chExt cx="455481" cy="375891"/>
          </a:xfrm>
        </p:grpSpPr>
        <p:sp>
          <p:nvSpPr>
            <p:cNvPr id="247" name="Google Shape;247;g3f6945d5577_0_0"/>
            <p:cNvSpPr/>
            <p:nvPr/>
          </p:nvSpPr>
          <p:spPr>
            <a:xfrm>
              <a:off x="4267538" y="4374373"/>
              <a:ext cx="115646" cy="127537"/>
            </a:xfrm>
            <a:custGeom>
              <a:avLst/>
              <a:gdLst/>
              <a:ahLst/>
              <a:cxnLst/>
              <a:rect l="l" t="t" r="r" b="b"/>
              <a:pathLst>
                <a:path w="1206" h="1330" extrusionOk="0">
                  <a:moveTo>
                    <a:pt x="603" y="259"/>
                  </a:moveTo>
                  <a:cubicBezTo>
                    <a:pt x="794" y="259"/>
                    <a:pt x="948" y="438"/>
                    <a:pt x="948" y="665"/>
                  </a:cubicBezTo>
                  <a:cubicBezTo>
                    <a:pt x="948" y="893"/>
                    <a:pt x="794" y="1078"/>
                    <a:pt x="603" y="1078"/>
                  </a:cubicBezTo>
                  <a:cubicBezTo>
                    <a:pt x="412" y="1078"/>
                    <a:pt x="252" y="893"/>
                    <a:pt x="252" y="665"/>
                  </a:cubicBezTo>
                  <a:cubicBezTo>
                    <a:pt x="252" y="438"/>
                    <a:pt x="412" y="259"/>
                    <a:pt x="603" y="259"/>
                  </a:cubicBezTo>
                  <a:close/>
                  <a:moveTo>
                    <a:pt x="603" y="1"/>
                  </a:moveTo>
                  <a:cubicBezTo>
                    <a:pt x="271" y="1"/>
                    <a:pt x="0" y="296"/>
                    <a:pt x="0" y="665"/>
                  </a:cubicBezTo>
                  <a:cubicBezTo>
                    <a:pt x="0" y="1034"/>
                    <a:pt x="271" y="1330"/>
                    <a:pt x="603" y="1330"/>
                  </a:cubicBezTo>
                  <a:cubicBezTo>
                    <a:pt x="935" y="1330"/>
                    <a:pt x="1206" y="1034"/>
                    <a:pt x="1206" y="665"/>
                  </a:cubicBezTo>
                  <a:cubicBezTo>
                    <a:pt x="1206" y="296"/>
                    <a:pt x="935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54025" tIns="54025" rIns="54025" bIns="54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3"/>
                <a:buFont typeface="Arial"/>
                <a:buNone/>
              </a:pPr>
              <a:endParaRPr sz="95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g3f6945d5577_0_0"/>
            <p:cNvSpPr/>
            <p:nvPr/>
          </p:nvSpPr>
          <p:spPr>
            <a:xfrm>
              <a:off x="4219114" y="4516577"/>
              <a:ext cx="210100" cy="130510"/>
            </a:xfrm>
            <a:custGeom>
              <a:avLst/>
              <a:gdLst/>
              <a:ahLst/>
              <a:cxnLst/>
              <a:rect l="l" t="t" r="r" b="b"/>
              <a:pathLst>
                <a:path w="2191" h="1361" extrusionOk="0">
                  <a:moveTo>
                    <a:pt x="1096" y="259"/>
                  </a:moveTo>
                  <a:cubicBezTo>
                    <a:pt x="1471" y="259"/>
                    <a:pt x="1705" y="314"/>
                    <a:pt x="1815" y="431"/>
                  </a:cubicBezTo>
                  <a:cubicBezTo>
                    <a:pt x="1926" y="554"/>
                    <a:pt x="1908" y="757"/>
                    <a:pt x="1883" y="1022"/>
                  </a:cubicBezTo>
                  <a:cubicBezTo>
                    <a:pt x="1883" y="1046"/>
                    <a:pt x="1877" y="1077"/>
                    <a:pt x="1877" y="1108"/>
                  </a:cubicBezTo>
                  <a:lnTo>
                    <a:pt x="314" y="1108"/>
                  </a:lnTo>
                  <a:cubicBezTo>
                    <a:pt x="308" y="1077"/>
                    <a:pt x="308" y="1046"/>
                    <a:pt x="308" y="1022"/>
                  </a:cubicBezTo>
                  <a:cubicBezTo>
                    <a:pt x="284" y="757"/>
                    <a:pt x="265" y="554"/>
                    <a:pt x="376" y="431"/>
                  </a:cubicBezTo>
                  <a:cubicBezTo>
                    <a:pt x="480" y="314"/>
                    <a:pt x="720" y="259"/>
                    <a:pt x="1096" y="259"/>
                  </a:cubicBezTo>
                  <a:close/>
                  <a:moveTo>
                    <a:pt x="1096" y="1"/>
                  </a:moveTo>
                  <a:cubicBezTo>
                    <a:pt x="634" y="1"/>
                    <a:pt x="345" y="87"/>
                    <a:pt x="185" y="259"/>
                  </a:cubicBezTo>
                  <a:cubicBezTo>
                    <a:pt x="1" y="462"/>
                    <a:pt x="25" y="745"/>
                    <a:pt x="50" y="1040"/>
                  </a:cubicBezTo>
                  <a:cubicBezTo>
                    <a:pt x="56" y="1108"/>
                    <a:pt x="62" y="1176"/>
                    <a:pt x="68" y="1243"/>
                  </a:cubicBezTo>
                  <a:cubicBezTo>
                    <a:pt x="68" y="1311"/>
                    <a:pt x="124" y="1360"/>
                    <a:pt x="191" y="1360"/>
                  </a:cubicBezTo>
                  <a:lnTo>
                    <a:pt x="1994" y="1360"/>
                  </a:lnTo>
                  <a:cubicBezTo>
                    <a:pt x="2062" y="1360"/>
                    <a:pt x="2117" y="1311"/>
                    <a:pt x="2123" y="1243"/>
                  </a:cubicBezTo>
                  <a:cubicBezTo>
                    <a:pt x="2129" y="1176"/>
                    <a:pt x="2135" y="1108"/>
                    <a:pt x="2142" y="1040"/>
                  </a:cubicBezTo>
                  <a:cubicBezTo>
                    <a:pt x="2166" y="745"/>
                    <a:pt x="2191" y="462"/>
                    <a:pt x="2006" y="259"/>
                  </a:cubicBezTo>
                  <a:cubicBezTo>
                    <a:pt x="1840" y="87"/>
                    <a:pt x="1557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54025" tIns="54025" rIns="54025" bIns="54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3"/>
                <a:buFont typeface="Arial"/>
                <a:buNone/>
              </a:pPr>
              <a:endParaRPr sz="95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g3f6945d5577_0_0"/>
            <p:cNvSpPr/>
            <p:nvPr/>
          </p:nvSpPr>
          <p:spPr>
            <a:xfrm>
              <a:off x="4512919" y="4477646"/>
              <a:ext cx="115742" cy="127537"/>
            </a:xfrm>
            <a:custGeom>
              <a:avLst/>
              <a:gdLst/>
              <a:ahLst/>
              <a:cxnLst/>
              <a:rect l="l" t="t" r="r" b="b"/>
              <a:pathLst>
                <a:path w="1207" h="1330" extrusionOk="0">
                  <a:moveTo>
                    <a:pt x="603" y="253"/>
                  </a:moveTo>
                  <a:cubicBezTo>
                    <a:pt x="794" y="253"/>
                    <a:pt x="954" y="437"/>
                    <a:pt x="954" y="665"/>
                  </a:cubicBezTo>
                  <a:cubicBezTo>
                    <a:pt x="954" y="893"/>
                    <a:pt x="794" y="1077"/>
                    <a:pt x="603" y="1077"/>
                  </a:cubicBezTo>
                  <a:cubicBezTo>
                    <a:pt x="413" y="1077"/>
                    <a:pt x="259" y="893"/>
                    <a:pt x="259" y="665"/>
                  </a:cubicBezTo>
                  <a:cubicBezTo>
                    <a:pt x="259" y="437"/>
                    <a:pt x="413" y="253"/>
                    <a:pt x="603" y="253"/>
                  </a:cubicBezTo>
                  <a:close/>
                  <a:moveTo>
                    <a:pt x="603" y="1"/>
                  </a:moveTo>
                  <a:cubicBezTo>
                    <a:pt x="271" y="1"/>
                    <a:pt x="0" y="296"/>
                    <a:pt x="0" y="665"/>
                  </a:cubicBezTo>
                  <a:cubicBezTo>
                    <a:pt x="0" y="1034"/>
                    <a:pt x="271" y="1329"/>
                    <a:pt x="603" y="1329"/>
                  </a:cubicBezTo>
                  <a:cubicBezTo>
                    <a:pt x="935" y="1329"/>
                    <a:pt x="1206" y="1034"/>
                    <a:pt x="1206" y="665"/>
                  </a:cubicBezTo>
                  <a:cubicBezTo>
                    <a:pt x="1206" y="296"/>
                    <a:pt x="935" y="1"/>
                    <a:pt x="60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54025" tIns="54025" rIns="54025" bIns="54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3"/>
                <a:buFont typeface="Arial"/>
                <a:buNone/>
              </a:pPr>
              <a:endParaRPr sz="95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g3f6945d5577_0_0"/>
            <p:cNvSpPr/>
            <p:nvPr/>
          </p:nvSpPr>
          <p:spPr>
            <a:xfrm>
              <a:off x="4464495" y="4619850"/>
              <a:ext cx="210100" cy="130414"/>
            </a:xfrm>
            <a:custGeom>
              <a:avLst/>
              <a:gdLst/>
              <a:ahLst/>
              <a:cxnLst/>
              <a:rect l="l" t="t" r="r" b="b"/>
              <a:pathLst>
                <a:path w="2191" h="1360" extrusionOk="0">
                  <a:moveTo>
                    <a:pt x="1096" y="259"/>
                  </a:moveTo>
                  <a:cubicBezTo>
                    <a:pt x="1477" y="259"/>
                    <a:pt x="1711" y="314"/>
                    <a:pt x="1816" y="431"/>
                  </a:cubicBezTo>
                  <a:cubicBezTo>
                    <a:pt x="1926" y="554"/>
                    <a:pt x="1908" y="757"/>
                    <a:pt x="1890" y="1021"/>
                  </a:cubicBezTo>
                  <a:cubicBezTo>
                    <a:pt x="1883" y="1046"/>
                    <a:pt x="1883" y="1077"/>
                    <a:pt x="1877" y="1108"/>
                  </a:cubicBezTo>
                  <a:lnTo>
                    <a:pt x="315" y="1108"/>
                  </a:lnTo>
                  <a:cubicBezTo>
                    <a:pt x="315" y="1077"/>
                    <a:pt x="308" y="1046"/>
                    <a:pt x="308" y="1021"/>
                  </a:cubicBezTo>
                  <a:cubicBezTo>
                    <a:pt x="284" y="757"/>
                    <a:pt x="265" y="554"/>
                    <a:pt x="376" y="431"/>
                  </a:cubicBezTo>
                  <a:cubicBezTo>
                    <a:pt x="487" y="314"/>
                    <a:pt x="721" y="259"/>
                    <a:pt x="1096" y="259"/>
                  </a:cubicBezTo>
                  <a:close/>
                  <a:moveTo>
                    <a:pt x="1096" y="0"/>
                  </a:moveTo>
                  <a:cubicBezTo>
                    <a:pt x="641" y="0"/>
                    <a:pt x="352" y="80"/>
                    <a:pt x="192" y="259"/>
                  </a:cubicBezTo>
                  <a:cubicBezTo>
                    <a:pt x="1" y="462"/>
                    <a:pt x="25" y="745"/>
                    <a:pt x="56" y="1040"/>
                  </a:cubicBezTo>
                  <a:cubicBezTo>
                    <a:pt x="56" y="1108"/>
                    <a:pt x="62" y="1175"/>
                    <a:pt x="69" y="1243"/>
                  </a:cubicBezTo>
                  <a:cubicBezTo>
                    <a:pt x="75" y="1311"/>
                    <a:pt x="130" y="1360"/>
                    <a:pt x="198" y="1360"/>
                  </a:cubicBezTo>
                  <a:lnTo>
                    <a:pt x="2000" y="1360"/>
                  </a:lnTo>
                  <a:cubicBezTo>
                    <a:pt x="2068" y="1360"/>
                    <a:pt x="2123" y="1311"/>
                    <a:pt x="2129" y="1243"/>
                  </a:cubicBezTo>
                  <a:cubicBezTo>
                    <a:pt x="2129" y="1175"/>
                    <a:pt x="2136" y="1108"/>
                    <a:pt x="2142" y="1040"/>
                  </a:cubicBezTo>
                  <a:cubicBezTo>
                    <a:pt x="2166" y="745"/>
                    <a:pt x="2191" y="462"/>
                    <a:pt x="2006" y="259"/>
                  </a:cubicBezTo>
                  <a:cubicBezTo>
                    <a:pt x="1846" y="80"/>
                    <a:pt x="1557" y="0"/>
                    <a:pt x="109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54025" tIns="54025" rIns="54025" bIns="540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53"/>
                <a:buFont typeface="Arial"/>
                <a:buNone/>
              </a:pPr>
              <a:endParaRPr sz="95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251" name="Google Shape;251;g3f6945d5577_0_0"/>
          <p:cNvSpPr txBox="1"/>
          <p:nvPr/>
        </p:nvSpPr>
        <p:spPr>
          <a:xfrm>
            <a:off x="3364539" y="1413527"/>
            <a:ext cx="1289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1" i="0" u="none" strike="noStrike" cap="none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AGENDAMENTOS</a:t>
            </a:r>
            <a:endParaRPr sz="1024" b="1" i="0" u="none" strike="noStrike" cap="none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52" name="Google Shape;252;g3f6945d5577_0_0"/>
          <p:cNvCxnSpPr/>
          <p:nvPr/>
        </p:nvCxnSpPr>
        <p:spPr>
          <a:xfrm>
            <a:off x="3049880" y="1731684"/>
            <a:ext cx="188700" cy="0"/>
          </a:xfrm>
          <a:prstGeom prst="straightConnector1">
            <a:avLst/>
          </a:prstGeom>
          <a:noFill/>
          <a:ln w="9525" cap="flat" cmpd="sng">
            <a:solidFill>
              <a:srgbClr val="1D9E7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3" name="Google Shape;253;g3f6945d5577_0_0"/>
          <p:cNvSpPr txBox="1"/>
          <p:nvPr/>
        </p:nvSpPr>
        <p:spPr>
          <a:xfrm>
            <a:off x="3035592" y="2507972"/>
            <a:ext cx="1508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0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realizados / esperados</a:t>
            </a:r>
            <a:endParaRPr sz="1024" b="0" i="0" u="none" strike="noStrike" cap="none" dirty="0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4" name="Google Shape;254;g3f6945d5577_0_0"/>
          <p:cNvSpPr txBox="1"/>
          <p:nvPr/>
        </p:nvSpPr>
        <p:spPr>
          <a:xfrm>
            <a:off x="5036279" y="1825779"/>
            <a:ext cx="1580707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None/>
            </a:pPr>
            <a:r>
              <a:rPr lang="pt-BR" sz="120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{{%_estudantes}}</a:t>
            </a:r>
            <a:endParaRPr sz="3405" b="1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6" name="Google Shape;256;g3f6945d5577_0_0"/>
          <p:cNvSpPr txBox="1"/>
          <p:nvPr/>
        </p:nvSpPr>
        <p:spPr>
          <a:xfrm>
            <a:off x="5431167" y="1438664"/>
            <a:ext cx="1289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1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ESTUDANTES</a:t>
            </a:r>
            <a:endParaRPr sz="1024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7" name="Google Shape;257;g3f6945d5577_0_0"/>
          <p:cNvSpPr txBox="1"/>
          <p:nvPr/>
        </p:nvSpPr>
        <p:spPr>
          <a:xfrm>
            <a:off x="5102220" y="2521853"/>
            <a:ext cx="1508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Foram liberados do RAPP / total em RAPP</a:t>
            </a:r>
            <a:endParaRPr sz="1024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64" name="Google Shape;264;g3f6945d5577_0_0"/>
          <p:cNvCxnSpPr/>
          <p:nvPr/>
        </p:nvCxnSpPr>
        <p:spPr>
          <a:xfrm>
            <a:off x="5116507" y="1735527"/>
            <a:ext cx="188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65" name="Google Shape;265;g3f6945d5577_0_0"/>
          <p:cNvSpPr/>
          <p:nvPr/>
        </p:nvSpPr>
        <p:spPr>
          <a:xfrm>
            <a:off x="7057626" y="1373734"/>
            <a:ext cx="1735500" cy="2163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61400" tIns="61400" rIns="61400" bIns="614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41"/>
              <a:buFont typeface="Arial"/>
              <a:buNone/>
            </a:pPr>
            <a:endParaRPr sz="941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g3f6945d5577_0_0"/>
          <p:cNvSpPr txBox="1"/>
          <p:nvPr/>
        </p:nvSpPr>
        <p:spPr>
          <a:xfrm>
            <a:off x="7063386" y="1743456"/>
            <a:ext cx="1690354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None/>
            </a:pPr>
            <a:r>
              <a:rPr lang="pt-BR" b="1" dirty="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{{%_componente</a:t>
            </a:r>
            <a:r>
              <a:rPr lang="pt-BR" sz="1200" b="1" dirty="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b="1" i="0" u="none" strike="noStrike" cap="none" dirty="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8" name="Google Shape;268;g3f6945d5577_0_0"/>
          <p:cNvSpPr txBox="1"/>
          <p:nvPr/>
        </p:nvSpPr>
        <p:spPr>
          <a:xfrm>
            <a:off x="7464640" y="1442610"/>
            <a:ext cx="12891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1" i="0" u="none" strike="noStrike" cap="non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COMPONENTES</a:t>
            </a:r>
            <a:endParaRPr sz="1024" b="1" i="0" u="none" strike="noStrike" cap="non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69" name="Google Shape;269;g3f6945d5577_0_0"/>
          <p:cNvSpPr txBox="1"/>
          <p:nvPr/>
        </p:nvSpPr>
        <p:spPr>
          <a:xfrm>
            <a:off x="7135694" y="2537054"/>
            <a:ext cx="1508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0" i="0" u="none" strike="noStrike" cap="none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aprovados / previstos</a:t>
            </a:r>
            <a:endParaRPr sz="1024" b="0" i="0" u="none" strike="noStrike" cap="none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273" name="Google Shape;273;g3f6945d5577_0_0"/>
          <p:cNvCxnSpPr/>
          <p:nvPr/>
        </p:nvCxnSpPr>
        <p:spPr>
          <a:xfrm>
            <a:off x="7149981" y="1750728"/>
            <a:ext cx="188700" cy="0"/>
          </a:xfrm>
          <a:prstGeom prst="straightConnector1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274" name="Google Shape;274;g3f6945d5577_0_0"/>
          <p:cNvGrpSpPr/>
          <p:nvPr/>
        </p:nvGrpSpPr>
        <p:grpSpPr>
          <a:xfrm>
            <a:off x="7149713" y="1471581"/>
            <a:ext cx="188963" cy="180793"/>
            <a:chOff x="2191638" y="2062149"/>
            <a:chExt cx="683905" cy="654336"/>
          </a:xfrm>
        </p:grpSpPr>
        <p:sp>
          <p:nvSpPr>
            <p:cNvPr id="275" name="Google Shape;275;g3f6945d5577_0_0"/>
            <p:cNvSpPr/>
            <p:nvPr/>
          </p:nvSpPr>
          <p:spPr>
            <a:xfrm>
              <a:off x="2271322" y="2155350"/>
              <a:ext cx="152853" cy="24355"/>
            </a:xfrm>
            <a:custGeom>
              <a:avLst/>
              <a:gdLst/>
              <a:ahLst/>
              <a:cxnLst/>
              <a:rect l="l" t="t" r="r" b="b"/>
              <a:pathLst>
                <a:path w="1594" h="254" extrusionOk="0">
                  <a:moveTo>
                    <a:pt x="130" y="1"/>
                  </a:moveTo>
                  <a:cubicBezTo>
                    <a:pt x="56" y="1"/>
                    <a:pt x="0" y="56"/>
                    <a:pt x="0" y="124"/>
                  </a:cubicBezTo>
                  <a:cubicBezTo>
                    <a:pt x="0" y="198"/>
                    <a:pt x="56" y="253"/>
                    <a:pt x="130" y="253"/>
                  </a:cubicBezTo>
                  <a:lnTo>
                    <a:pt x="1465" y="253"/>
                  </a:lnTo>
                  <a:cubicBezTo>
                    <a:pt x="1538" y="253"/>
                    <a:pt x="1594" y="198"/>
                    <a:pt x="1594" y="124"/>
                  </a:cubicBezTo>
                  <a:cubicBezTo>
                    <a:pt x="1594" y="56"/>
                    <a:pt x="1538" y="1"/>
                    <a:pt x="1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5275" tIns="25275" rIns="25275" bIns="25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4"/>
                <a:buFont typeface="Arial"/>
                <a:buNone/>
              </a:pPr>
              <a:endParaRPr sz="117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g3f6945d5577_0_0"/>
            <p:cNvSpPr/>
            <p:nvPr/>
          </p:nvSpPr>
          <p:spPr>
            <a:xfrm>
              <a:off x="2271322" y="2218539"/>
              <a:ext cx="152853" cy="24260"/>
            </a:xfrm>
            <a:custGeom>
              <a:avLst/>
              <a:gdLst/>
              <a:ahLst/>
              <a:cxnLst/>
              <a:rect l="l" t="t" r="r" b="b"/>
              <a:pathLst>
                <a:path w="1594" h="253" extrusionOk="0">
                  <a:moveTo>
                    <a:pt x="130" y="0"/>
                  </a:moveTo>
                  <a:cubicBezTo>
                    <a:pt x="56" y="0"/>
                    <a:pt x="0" y="56"/>
                    <a:pt x="0" y="129"/>
                  </a:cubicBezTo>
                  <a:cubicBezTo>
                    <a:pt x="0" y="197"/>
                    <a:pt x="56" y="252"/>
                    <a:pt x="130" y="252"/>
                  </a:cubicBezTo>
                  <a:lnTo>
                    <a:pt x="1465" y="252"/>
                  </a:lnTo>
                  <a:cubicBezTo>
                    <a:pt x="1538" y="252"/>
                    <a:pt x="1594" y="197"/>
                    <a:pt x="1594" y="129"/>
                  </a:cubicBezTo>
                  <a:cubicBezTo>
                    <a:pt x="1594" y="56"/>
                    <a:pt x="1538" y="0"/>
                    <a:pt x="1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5275" tIns="25275" rIns="25275" bIns="25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4"/>
                <a:buFont typeface="Arial"/>
                <a:buNone/>
              </a:pPr>
              <a:endParaRPr sz="117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g3f6945d5577_0_0"/>
            <p:cNvSpPr/>
            <p:nvPr/>
          </p:nvSpPr>
          <p:spPr>
            <a:xfrm>
              <a:off x="2271322" y="2281631"/>
              <a:ext cx="152853" cy="24835"/>
            </a:xfrm>
            <a:custGeom>
              <a:avLst/>
              <a:gdLst/>
              <a:ahLst/>
              <a:cxnLst/>
              <a:rect l="l" t="t" r="r" b="b"/>
              <a:pathLst>
                <a:path w="1594" h="259" extrusionOk="0">
                  <a:moveTo>
                    <a:pt x="130" y="0"/>
                  </a:moveTo>
                  <a:cubicBezTo>
                    <a:pt x="56" y="0"/>
                    <a:pt x="0" y="56"/>
                    <a:pt x="0" y="130"/>
                  </a:cubicBezTo>
                  <a:cubicBezTo>
                    <a:pt x="0" y="197"/>
                    <a:pt x="56" y="259"/>
                    <a:pt x="130" y="259"/>
                  </a:cubicBezTo>
                  <a:lnTo>
                    <a:pt x="1465" y="259"/>
                  </a:lnTo>
                  <a:cubicBezTo>
                    <a:pt x="1538" y="259"/>
                    <a:pt x="1594" y="197"/>
                    <a:pt x="1594" y="130"/>
                  </a:cubicBezTo>
                  <a:cubicBezTo>
                    <a:pt x="1594" y="56"/>
                    <a:pt x="1538" y="0"/>
                    <a:pt x="146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5275" tIns="25275" rIns="25275" bIns="25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4"/>
                <a:buFont typeface="Arial"/>
                <a:buNone/>
              </a:pPr>
              <a:endParaRPr sz="117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g3f6945d5577_0_0"/>
            <p:cNvSpPr/>
            <p:nvPr/>
          </p:nvSpPr>
          <p:spPr>
            <a:xfrm>
              <a:off x="2271322" y="2344724"/>
              <a:ext cx="152853" cy="24931"/>
            </a:xfrm>
            <a:custGeom>
              <a:avLst/>
              <a:gdLst/>
              <a:ahLst/>
              <a:cxnLst/>
              <a:rect l="l" t="t" r="r" b="b"/>
              <a:pathLst>
                <a:path w="1594" h="260" extrusionOk="0">
                  <a:moveTo>
                    <a:pt x="130" y="1"/>
                  </a:moveTo>
                  <a:cubicBezTo>
                    <a:pt x="56" y="1"/>
                    <a:pt x="0" y="62"/>
                    <a:pt x="0" y="130"/>
                  </a:cubicBezTo>
                  <a:cubicBezTo>
                    <a:pt x="0" y="204"/>
                    <a:pt x="56" y="259"/>
                    <a:pt x="130" y="259"/>
                  </a:cubicBezTo>
                  <a:lnTo>
                    <a:pt x="1465" y="259"/>
                  </a:lnTo>
                  <a:cubicBezTo>
                    <a:pt x="1538" y="259"/>
                    <a:pt x="1594" y="204"/>
                    <a:pt x="1594" y="130"/>
                  </a:cubicBezTo>
                  <a:cubicBezTo>
                    <a:pt x="1594" y="62"/>
                    <a:pt x="1538" y="1"/>
                    <a:pt x="1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5275" tIns="25275" rIns="25275" bIns="25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4"/>
                <a:buFont typeface="Arial"/>
                <a:buNone/>
              </a:pPr>
              <a:endParaRPr sz="117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g3f6945d5577_0_0"/>
            <p:cNvSpPr/>
            <p:nvPr/>
          </p:nvSpPr>
          <p:spPr>
            <a:xfrm>
              <a:off x="2271322" y="2589520"/>
              <a:ext cx="348186" cy="24260"/>
            </a:xfrm>
            <a:custGeom>
              <a:avLst/>
              <a:gdLst/>
              <a:ahLst/>
              <a:cxnLst/>
              <a:rect l="l" t="t" r="r" b="b"/>
              <a:pathLst>
                <a:path w="3631" h="253" extrusionOk="0">
                  <a:moveTo>
                    <a:pt x="130" y="1"/>
                  </a:moveTo>
                  <a:cubicBezTo>
                    <a:pt x="56" y="1"/>
                    <a:pt x="0" y="56"/>
                    <a:pt x="0" y="130"/>
                  </a:cubicBezTo>
                  <a:cubicBezTo>
                    <a:pt x="0" y="198"/>
                    <a:pt x="56" y="253"/>
                    <a:pt x="130" y="253"/>
                  </a:cubicBezTo>
                  <a:lnTo>
                    <a:pt x="3501" y="253"/>
                  </a:lnTo>
                  <a:cubicBezTo>
                    <a:pt x="3575" y="253"/>
                    <a:pt x="3630" y="198"/>
                    <a:pt x="3630" y="130"/>
                  </a:cubicBezTo>
                  <a:cubicBezTo>
                    <a:pt x="3630" y="56"/>
                    <a:pt x="3575" y="1"/>
                    <a:pt x="35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5275" tIns="25275" rIns="25275" bIns="25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4"/>
                <a:buFont typeface="Arial"/>
                <a:buNone/>
              </a:pPr>
              <a:endParaRPr sz="117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g3f6945d5577_0_0"/>
            <p:cNvSpPr/>
            <p:nvPr/>
          </p:nvSpPr>
          <p:spPr>
            <a:xfrm>
              <a:off x="2486018" y="2141830"/>
              <a:ext cx="133482" cy="88025"/>
            </a:xfrm>
            <a:custGeom>
              <a:avLst/>
              <a:gdLst/>
              <a:ahLst/>
              <a:cxnLst/>
              <a:rect l="l" t="t" r="r" b="b"/>
              <a:pathLst>
                <a:path w="1392" h="918" extrusionOk="0">
                  <a:moveTo>
                    <a:pt x="1139" y="259"/>
                  </a:moveTo>
                  <a:lnTo>
                    <a:pt x="1139" y="665"/>
                  </a:lnTo>
                  <a:lnTo>
                    <a:pt x="253" y="665"/>
                  </a:lnTo>
                  <a:lnTo>
                    <a:pt x="253" y="259"/>
                  </a:lnTo>
                  <a:close/>
                  <a:moveTo>
                    <a:pt x="130" y="0"/>
                  </a:moveTo>
                  <a:cubicBezTo>
                    <a:pt x="56" y="0"/>
                    <a:pt x="1" y="62"/>
                    <a:pt x="1" y="130"/>
                  </a:cubicBezTo>
                  <a:lnTo>
                    <a:pt x="1" y="788"/>
                  </a:lnTo>
                  <a:cubicBezTo>
                    <a:pt x="1" y="862"/>
                    <a:pt x="56" y="917"/>
                    <a:pt x="130" y="917"/>
                  </a:cubicBezTo>
                  <a:lnTo>
                    <a:pt x="1262" y="917"/>
                  </a:lnTo>
                  <a:cubicBezTo>
                    <a:pt x="1336" y="917"/>
                    <a:pt x="1391" y="862"/>
                    <a:pt x="1391" y="788"/>
                  </a:cubicBezTo>
                  <a:lnTo>
                    <a:pt x="1391" y="130"/>
                  </a:lnTo>
                  <a:cubicBezTo>
                    <a:pt x="1391" y="99"/>
                    <a:pt x="1379" y="62"/>
                    <a:pt x="1354" y="37"/>
                  </a:cubicBezTo>
                  <a:cubicBezTo>
                    <a:pt x="1330" y="13"/>
                    <a:pt x="1299" y="0"/>
                    <a:pt x="126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5275" tIns="25275" rIns="25275" bIns="25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4"/>
                <a:buFont typeface="Arial"/>
                <a:buNone/>
              </a:pPr>
              <a:endParaRPr sz="117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g3f6945d5577_0_0"/>
            <p:cNvSpPr/>
            <p:nvPr/>
          </p:nvSpPr>
          <p:spPr>
            <a:xfrm>
              <a:off x="2191638" y="2062149"/>
              <a:ext cx="683905" cy="654336"/>
            </a:xfrm>
            <a:custGeom>
              <a:avLst/>
              <a:gdLst/>
              <a:ahLst/>
              <a:cxnLst/>
              <a:rect l="l" t="t" r="r" b="b"/>
              <a:pathLst>
                <a:path w="7132" h="6824" extrusionOk="0">
                  <a:moveTo>
                    <a:pt x="6620" y="1680"/>
                  </a:moveTo>
                  <a:lnTo>
                    <a:pt x="6805" y="1871"/>
                  </a:lnTo>
                  <a:lnTo>
                    <a:pt x="5273" y="3397"/>
                  </a:lnTo>
                  <a:lnTo>
                    <a:pt x="5144" y="3526"/>
                  </a:lnTo>
                  <a:lnTo>
                    <a:pt x="5021" y="3655"/>
                  </a:lnTo>
                  <a:lnTo>
                    <a:pt x="4424" y="4252"/>
                  </a:lnTo>
                  <a:lnTo>
                    <a:pt x="4406" y="4264"/>
                  </a:lnTo>
                  <a:lnTo>
                    <a:pt x="4030" y="4461"/>
                  </a:lnTo>
                  <a:lnTo>
                    <a:pt x="4227" y="4086"/>
                  </a:lnTo>
                  <a:lnTo>
                    <a:pt x="4233" y="4067"/>
                  </a:lnTo>
                  <a:lnTo>
                    <a:pt x="5021" y="3280"/>
                  </a:lnTo>
                  <a:lnTo>
                    <a:pt x="5144" y="3157"/>
                  </a:lnTo>
                  <a:lnTo>
                    <a:pt x="5273" y="3028"/>
                  </a:lnTo>
                  <a:lnTo>
                    <a:pt x="6620" y="1680"/>
                  </a:lnTo>
                  <a:close/>
                  <a:moveTo>
                    <a:pt x="5021" y="259"/>
                  </a:moveTo>
                  <a:lnTo>
                    <a:pt x="5021" y="2917"/>
                  </a:lnTo>
                  <a:lnTo>
                    <a:pt x="4037" y="3901"/>
                  </a:lnTo>
                  <a:cubicBezTo>
                    <a:pt x="4030" y="3907"/>
                    <a:pt x="4030" y="3907"/>
                    <a:pt x="4030" y="3914"/>
                  </a:cubicBezTo>
                  <a:cubicBezTo>
                    <a:pt x="4024" y="3920"/>
                    <a:pt x="4024" y="3920"/>
                    <a:pt x="4018" y="3926"/>
                  </a:cubicBezTo>
                  <a:cubicBezTo>
                    <a:pt x="4018" y="3926"/>
                    <a:pt x="4018" y="3926"/>
                    <a:pt x="4018" y="3932"/>
                  </a:cubicBezTo>
                  <a:lnTo>
                    <a:pt x="3612" y="4707"/>
                  </a:lnTo>
                  <a:cubicBezTo>
                    <a:pt x="3581" y="4756"/>
                    <a:pt x="3594" y="4812"/>
                    <a:pt x="3631" y="4855"/>
                  </a:cubicBezTo>
                  <a:cubicBezTo>
                    <a:pt x="3655" y="4879"/>
                    <a:pt x="3692" y="4892"/>
                    <a:pt x="3723" y="4892"/>
                  </a:cubicBezTo>
                  <a:cubicBezTo>
                    <a:pt x="3741" y="4892"/>
                    <a:pt x="3766" y="4886"/>
                    <a:pt x="3784" y="4879"/>
                  </a:cubicBezTo>
                  <a:lnTo>
                    <a:pt x="4560" y="4473"/>
                  </a:lnTo>
                  <a:cubicBezTo>
                    <a:pt x="4560" y="4467"/>
                    <a:pt x="4560" y="4467"/>
                    <a:pt x="4566" y="4467"/>
                  </a:cubicBezTo>
                  <a:cubicBezTo>
                    <a:pt x="4566" y="4467"/>
                    <a:pt x="4572" y="4461"/>
                    <a:pt x="4572" y="4461"/>
                  </a:cubicBezTo>
                  <a:cubicBezTo>
                    <a:pt x="4578" y="4455"/>
                    <a:pt x="4584" y="4455"/>
                    <a:pt x="4584" y="4449"/>
                  </a:cubicBezTo>
                  <a:lnTo>
                    <a:pt x="4590" y="4449"/>
                  </a:lnTo>
                  <a:lnTo>
                    <a:pt x="5021" y="4018"/>
                  </a:lnTo>
                  <a:lnTo>
                    <a:pt x="5021" y="6565"/>
                  </a:lnTo>
                  <a:lnTo>
                    <a:pt x="259" y="6565"/>
                  </a:lnTo>
                  <a:lnTo>
                    <a:pt x="259" y="259"/>
                  </a:lnTo>
                  <a:close/>
                  <a:moveTo>
                    <a:pt x="130" y="1"/>
                  </a:moveTo>
                  <a:cubicBezTo>
                    <a:pt x="62" y="1"/>
                    <a:pt x="1" y="56"/>
                    <a:pt x="1" y="130"/>
                  </a:cubicBezTo>
                  <a:lnTo>
                    <a:pt x="1" y="6694"/>
                  </a:lnTo>
                  <a:cubicBezTo>
                    <a:pt x="1" y="6762"/>
                    <a:pt x="62" y="6823"/>
                    <a:pt x="130" y="6823"/>
                  </a:cubicBezTo>
                  <a:lnTo>
                    <a:pt x="5144" y="6823"/>
                  </a:lnTo>
                  <a:cubicBezTo>
                    <a:pt x="5218" y="6823"/>
                    <a:pt x="5273" y="6762"/>
                    <a:pt x="5273" y="6694"/>
                  </a:cubicBezTo>
                  <a:lnTo>
                    <a:pt x="5273" y="3760"/>
                  </a:lnTo>
                  <a:lnTo>
                    <a:pt x="7076" y="1957"/>
                  </a:lnTo>
                  <a:cubicBezTo>
                    <a:pt x="7131" y="1908"/>
                    <a:pt x="7131" y="1828"/>
                    <a:pt x="7076" y="1779"/>
                  </a:cubicBezTo>
                  <a:lnTo>
                    <a:pt x="6713" y="1410"/>
                  </a:lnTo>
                  <a:cubicBezTo>
                    <a:pt x="6688" y="1385"/>
                    <a:pt x="6654" y="1373"/>
                    <a:pt x="6620" y="1373"/>
                  </a:cubicBezTo>
                  <a:cubicBezTo>
                    <a:pt x="6587" y="1373"/>
                    <a:pt x="6553" y="1385"/>
                    <a:pt x="6528" y="1410"/>
                  </a:cubicBezTo>
                  <a:lnTo>
                    <a:pt x="5273" y="2665"/>
                  </a:lnTo>
                  <a:lnTo>
                    <a:pt x="5273" y="130"/>
                  </a:lnTo>
                  <a:cubicBezTo>
                    <a:pt x="5273" y="56"/>
                    <a:pt x="5218" y="1"/>
                    <a:pt x="514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25275" tIns="25275" rIns="25275" bIns="2527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174"/>
                <a:buFont typeface="Arial"/>
                <a:buNone/>
              </a:pPr>
              <a:endParaRPr sz="1174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82" name="Google Shape;282;g3f6945d5577_0_0" title="COMPOSICAO-04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175" y="3211146"/>
            <a:ext cx="2607099" cy="2068605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g3f6945d5577_0_0"/>
          <p:cNvSpPr/>
          <p:nvPr/>
        </p:nvSpPr>
        <p:spPr>
          <a:xfrm>
            <a:off x="2457775" y="4420150"/>
            <a:ext cx="6363000" cy="485700"/>
          </a:xfrm>
          <a:prstGeom prst="rect">
            <a:avLst/>
          </a:prstGeom>
          <a:solidFill>
            <a:srgbClr val="98C03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g3f6945d5577_0_0"/>
          <p:cNvSpPr txBox="1"/>
          <p:nvPr/>
        </p:nvSpPr>
        <p:spPr>
          <a:xfrm>
            <a:off x="2474425" y="4387809"/>
            <a:ext cx="63297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Este panorama reúne os principais dados do RAPP na rede, consolidando as informações do Avalia Potiguar e da </a:t>
            </a:r>
            <a:r>
              <a:rPr lang="pt-BR" sz="1200" b="0" i="0" u="none" strike="noStrike" cap="none" dirty="0" err="1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Plurall</a:t>
            </a:r>
            <a:r>
              <a:rPr lang="pt-BR" sz="1200" b="0" i="0" u="none" strike="noStrike" cap="none" dirty="0">
                <a:solidFill>
                  <a:srgbClr val="000000"/>
                </a:solidFill>
                <a:latin typeface="Nunito"/>
                <a:ea typeface="Nunito"/>
                <a:cs typeface="Nunito"/>
                <a:sym typeface="Nunito"/>
              </a:rPr>
              <a:t>. </a:t>
            </a:r>
            <a:r>
              <a:rPr lang="pt-BR" sz="1200" dirty="0">
                <a:latin typeface="Nunito"/>
                <a:ea typeface="Nunito"/>
                <a:cs typeface="Nunito"/>
                <a:sym typeface="Nunito"/>
              </a:rPr>
              <a:t>As informações são do dia </a:t>
            </a:r>
            <a:r>
              <a:rPr lang="pt-BR" sz="1200" b="1" dirty="0">
                <a:latin typeface="Nunito"/>
                <a:ea typeface="Nunito"/>
                <a:cs typeface="Nunito"/>
                <a:sym typeface="Nunito"/>
              </a:rPr>
              <a:t>{{data}}.</a:t>
            </a:r>
            <a:endParaRPr sz="1200" b="1" i="0" u="none" strike="noStrike" cap="none" dirty="0">
              <a:solidFill>
                <a:srgbClr val="000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" name="Google Shape;234;g3f6945d5577_0_0">
            <a:extLst>
              <a:ext uri="{FF2B5EF4-FFF2-40B4-BE49-F238E27FC236}">
                <a16:creationId xmlns:a16="http://schemas.microsoft.com/office/drawing/2014/main" id="{952FDA00-247E-D2A8-D804-9B3014AA3B5D}"/>
              </a:ext>
            </a:extLst>
          </p:cNvPr>
          <p:cNvSpPr txBox="1"/>
          <p:nvPr/>
        </p:nvSpPr>
        <p:spPr>
          <a:xfrm>
            <a:off x="2992888" y="3181435"/>
            <a:ext cx="1663976" cy="320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None/>
            </a:pPr>
            <a:r>
              <a:rPr lang="pt-BR" sz="1050" b="1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1050" b="1" i="0" u="none" strike="noStrike" cap="none" dirty="0" err="1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graf_barra</a:t>
            </a:r>
            <a:r>
              <a:rPr lang="pt-BR" sz="1050" b="1" dirty="0" err="1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_agend</a:t>
            </a:r>
            <a:r>
              <a:rPr lang="pt-BR" sz="1050" b="1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1050" b="1" i="0" u="none" strike="noStrike" cap="none" dirty="0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" name="Google Shape;254;g3f6945d5577_0_0">
            <a:extLst>
              <a:ext uri="{FF2B5EF4-FFF2-40B4-BE49-F238E27FC236}">
                <a16:creationId xmlns:a16="http://schemas.microsoft.com/office/drawing/2014/main" id="{AE35D320-07F9-267C-88FF-03FBB4C09916}"/>
              </a:ext>
            </a:extLst>
          </p:cNvPr>
          <p:cNvSpPr txBox="1"/>
          <p:nvPr/>
        </p:nvSpPr>
        <p:spPr>
          <a:xfrm>
            <a:off x="5047878" y="3168574"/>
            <a:ext cx="1580707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None/>
            </a:pPr>
            <a:r>
              <a:rPr lang="pt-BR" sz="105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1050" b="1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graf_barra_estud</a:t>
            </a:r>
            <a:r>
              <a:rPr lang="pt-BR" sz="1050" b="1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2800" b="1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266;g3f6945d5577_0_0">
            <a:extLst>
              <a:ext uri="{FF2B5EF4-FFF2-40B4-BE49-F238E27FC236}">
                <a16:creationId xmlns:a16="http://schemas.microsoft.com/office/drawing/2014/main" id="{B1E99041-2C51-9DA5-FCFA-5B7AD14B79CC}"/>
              </a:ext>
            </a:extLst>
          </p:cNvPr>
          <p:cNvSpPr txBox="1"/>
          <p:nvPr/>
        </p:nvSpPr>
        <p:spPr>
          <a:xfrm>
            <a:off x="7086638" y="3148881"/>
            <a:ext cx="1690354" cy="48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58"/>
              <a:buFont typeface="Arial"/>
              <a:buNone/>
            </a:pPr>
            <a:r>
              <a:rPr lang="pt-BR" sz="1100" b="1" dirty="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1100" b="1" dirty="0" err="1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graf_barra_comp</a:t>
            </a:r>
            <a:r>
              <a:rPr lang="pt-BR" sz="1050" b="1" dirty="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1100" b="1" i="0" u="none" strike="noStrike" cap="none" dirty="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9" name="Google Shape;253;g3f6945d5577_0_0">
            <a:extLst>
              <a:ext uri="{FF2B5EF4-FFF2-40B4-BE49-F238E27FC236}">
                <a16:creationId xmlns:a16="http://schemas.microsoft.com/office/drawing/2014/main" id="{E7E5B42F-20B5-1B3D-515E-4EC5657F88E7}"/>
              </a:ext>
            </a:extLst>
          </p:cNvPr>
          <p:cNvSpPr txBox="1"/>
          <p:nvPr/>
        </p:nvSpPr>
        <p:spPr>
          <a:xfrm>
            <a:off x="3117164" y="2274077"/>
            <a:ext cx="1293132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0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 {{</a:t>
            </a:r>
            <a:r>
              <a:rPr lang="pt-BR" sz="1024" b="0" i="0" u="none" strike="noStrike" cap="none" dirty="0" err="1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agend_rapp</a:t>
            </a:r>
            <a:r>
              <a:rPr lang="pt-BR" sz="1024" b="0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1024" b="0" i="0" u="none" strike="noStrike" cap="none" dirty="0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5" name="Google Shape;257;g3f6945d5577_0_0">
            <a:extLst>
              <a:ext uri="{FF2B5EF4-FFF2-40B4-BE49-F238E27FC236}">
                <a16:creationId xmlns:a16="http://schemas.microsoft.com/office/drawing/2014/main" id="{4E36E001-6FC9-D302-0D8E-EC76917C81BE}"/>
              </a:ext>
            </a:extLst>
          </p:cNvPr>
          <p:cNvSpPr txBox="1"/>
          <p:nvPr/>
        </p:nvSpPr>
        <p:spPr>
          <a:xfrm>
            <a:off x="5145082" y="2259592"/>
            <a:ext cx="1401192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1024" b="0" i="0" u="none" strike="noStrike" cap="none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estud_rapp</a:t>
            </a:r>
            <a:r>
              <a:rPr lang="pt-BR" sz="1024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1024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29" name="Google Shape;269;g3f6945d5577_0_0">
            <a:extLst>
              <a:ext uri="{FF2B5EF4-FFF2-40B4-BE49-F238E27FC236}">
                <a16:creationId xmlns:a16="http://schemas.microsoft.com/office/drawing/2014/main" id="{51CDCF71-58B2-1BFC-ADAE-B7D22FF76D32}"/>
              </a:ext>
            </a:extLst>
          </p:cNvPr>
          <p:cNvSpPr txBox="1"/>
          <p:nvPr/>
        </p:nvSpPr>
        <p:spPr>
          <a:xfrm>
            <a:off x="7171730" y="2327524"/>
            <a:ext cx="1341887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0" i="0" u="none" strike="noStrike" cap="none" dirty="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1024" b="0" i="0" u="none" strike="noStrike" cap="none" dirty="0" err="1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compon_rapp</a:t>
            </a:r>
            <a:r>
              <a:rPr lang="pt-BR" sz="1024" b="0" i="0" u="none" strike="noStrike" cap="none" dirty="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1024" b="0" i="0" u="none" strike="noStrike" cap="none" dirty="0">
              <a:solidFill>
                <a:schemeClr val="lt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3f8475dcb06_0_0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0" name="Google Shape;290;g3f8475dcb06_0_0"/>
          <p:cNvSpPr txBox="1"/>
          <p:nvPr/>
        </p:nvSpPr>
        <p:spPr>
          <a:xfrm>
            <a:off x="127051" y="151475"/>
            <a:ext cx="44886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25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Panorama por DIREC RAPP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292" name="Google Shape;292;g3f8475dcb06_0_0"/>
          <p:cNvSpPr txBox="1"/>
          <p:nvPr/>
        </p:nvSpPr>
        <p:spPr>
          <a:xfrm>
            <a:off x="116517" y="984501"/>
            <a:ext cx="1508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0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realizados / esperados</a:t>
            </a:r>
            <a:endParaRPr sz="1024" b="0" i="0" u="none" strike="noStrike" cap="none" dirty="0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" name="Google Shape;391;g3f8812c830a_0_230">
            <a:extLst>
              <a:ext uri="{FF2B5EF4-FFF2-40B4-BE49-F238E27FC236}">
                <a16:creationId xmlns:a16="http://schemas.microsoft.com/office/drawing/2014/main" id="{7D252F9A-8E0C-274F-BA67-66698F7C837B}"/>
              </a:ext>
            </a:extLst>
          </p:cNvPr>
          <p:cNvSpPr txBox="1"/>
          <p:nvPr/>
        </p:nvSpPr>
        <p:spPr>
          <a:xfrm>
            <a:off x="1704109" y="1738772"/>
            <a:ext cx="7177393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graf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pt-BR" sz="1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%_</a:t>
            </a:r>
            <a:r>
              <a:rPr lang="pt-BR" sz="1600" b="1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agendamentos_direc_rapp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291;g3f8475dcb06_0_0">
            <a:extLst>
              <a:ext uri="{FF2B5EF4-FFF2-40B4-BE49-F238E27FC236}">
                <a16:creationId xmlns:a16="http://schemas.microsoft.com/office/drawing/2014/main" id="{B09E69E8-7B32-2793-2C53-A60C5BAC5D67}"/>
              </a:ext>
            </a:extLst>
          </p:cNvPr>
          <p:cNvSpPr txBox="1"/>
          <p:nvPr/>
        </p:nvSpPr>
        <p:spPr>
          <a:xfrm>
            <a:off x="1080285" y="797038"/>
            <a:ext cx="208557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1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sz="1024" b="1" i="0" u="none" strike="noStrike" cap="none" dirty="0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9" name="Google Shape;291;g3f8475dcb06_0_0">
            <a:extLst>
              <a:ext uri="{FF2B5EF4-FFF2-40B4-BE49-F238E27FC236}">
                <a16:creationId xmlns:a16="http://schemas.microsoft.com/office/drawing/2014/main" id="{B573F118-2D2A-B622-64BE-4D91D15670DB}"/>
              </a:ext>
            </a:extLst>
          </p:cNvPr>
          <p:cNvSpPr txBox="1"/>
          <p:nvPr/>
        </p:nvSpPr>
        <p:spPr>
          <a:xfrm>
            <a:off x="127051" y="797038"/>
            <a:ext cx="1508401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024" b="1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1024" b="1" i="0" u="none" strike="noStrike" cap="none" dirty="0" err="1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agend_rapp</a:t>
            </a:r>
            <a:r>
              <a:rPr lang="pt-BR" sz="1024" b="1" i="0" u="none" strike="noStrike" cap="none" dirty="0">
                <a:solidFill>
                  <a:srgbClr val="00796B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1024" b="1" i="0" u="none" strike="noStrike" cap="none" dirty="0">
              <a:solidFill>
                <a:srgbClr val="00796B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f8475dcb06_5_16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299" name="Google Shape;299;g3f8475dcb06_5_16"/>
          <p:cNvSpPr txBox="1"/>
          <p:nvPr/>
        </p:nvSpPr>
        <p:spPr>
          <a:xfrm>
            <a:off x="127052" y="151475"/>
            <a:ext cx="48228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25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Panorama por DIREC RAPP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301" name="Google Shape;301;g3f8475dcb06_5_16"/>
          <p:cNvSpPr txBox="1"/>
          <p:nvPr/>
        </p:nvSpPr>
        <p:spPr>
          <a:xfrm>
            <a:off x="177765" y="1002603"/>
            <a:ext cx="1508400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124" b="0" i="0" u="none" strike="noStrike" cap="none">
                <a:solidFill>
                  <a:schemeClr val="accent6"/>
                </a:solidFill>
                <a:latin typeface="Nunito"/>
                <a:ea typeface="Nunito"/>
                <a:cs typeface="Nunito"/>
                <a:sym typeface="Nunito"/>
              </a:rPr>
              <a:t>Foram liberados do RAPP / total em RAPP</a:t>
            </a:r>
            <a:endParaRPr sz="1124" b="0" i="0" u="none" strike="noStrike" cap="none">
              <a:solidFill>
                <a:schemeClr val="accent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" name="Google Shape;391;g3f8812c830a_0_230">
            <a:extLst>
              <a:ext uri="{FF2B5EF4-FFF2-40B4-BE49-F238E27FC236}">
                <a16:creationId xmlns:a16="http://schemas.microsoft.com/office/drawing/2014/main" id="{CC6E66C4-BA1B-F01E-24AA-AC6633812A36}"/>
              </a:ext>
            </a:extLst>
          </p:cNvPr>
          <p:cNvSpPr txBox="1"/>
          <p:nvPr/>
        </p:nvSpPr>
        <p:spPr>
          <a:xfrm>
            <a:off x="1704109" y="1738772"/>
            <a:ext cx="7177393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graf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pt-BR" sz="1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%_</a:t>
            </a:r>
            <a:r>
              <a:rPr lang="pt-BR" sz="1600" b="1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liberados_direc_rapp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Google Shape;300;g3f8475dcb06_5_16">
            <a:extLst>
              <a:ext uri="{FF2B5EF4-FFF2-40B4-BE49-F238E27FC236}">
                <a16:creationId xmlns:a16="http://schemas.microsoft.com/office/drawing/2014/main" id="{68E0DD47-E507-9944-0B08-764239570164}"/>
              </a:ext>
            </a:extLst>
          </p:cNvPr>
          <p:cNvSpPr txBox="1"/>
          <p:nvPr/>
        </p:nvSpPr>
        <p:spPr>
          <a:xfrm>
            <a:off x="177765" y="763630"/>
            <a:ext cx="1616399" cy="2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2050" tIns="72050" rIns="72050" bIns="720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24"/>
              <a:buFont typeface="Arial"/>
              <a:buNone/>
            </a:pPr>
            <a:r>
              <a:rPr lang="pt-BR" sz="1124" b="1" i="0" u="none" strike="noStrike" cap="none" dirty="0">
                <a:solidFill>
                  <a:schemeClr val="accent6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1124" b="1" i="0" u="none" strike="noStrike" cap="none" dirty="0" err="1">
                <a:solidFill>
                  <a:schemeClr val="accent6"/>
                </a:solidFill>
                <a:latin typeface="Nunito"/>
                <a:ea typeface="Nunito"/>
                <a:cs typeface="Nunito"/>
                <a:sym typeface="Nunito"/>
              </a:rPr>
              <a:t>liberad_rapp</a:t>
            </a:r>
            <a:r>
              <a:rPr lang="pt-BR" sz="1124" b="1" i="0" u="none" strike="noStrike" cap="none" dirty="0">
                <a:solidFill>
                  <a:schemeClr val="accent6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1124" b="1" i="0" u="none" strike="noStrike" cap="none" dirty="0">
              <a:solidFill>
                <a:schemeClr val="accent6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f9b804d1d0_4_2"/>
          <p:cNvSpPr/>
          <p:nvPr/>
        </p:nvSpPr>
        <p:spPr>
          <a:xfrm>
            <a:off x="4527336" y="1185010"/>
            <a:ext cx="4248600" cy="2551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085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8" name="Google Shape;308;g3f9b804d1d0_4_2"/>
          <p:cNvGrpSpPr/>
          <p:nvPr/>
        </p:nvGrpSpPr>
        <p:grpSpPr>
          <a:xfrm>
            <a:off x="973228" y="3994250"/>
            <a:ext cx="7305622" cy="872400"/>
            <a:chOff x="973228" y="3994250"/>
            <a:chExt cx="7305622" cy="872400"/>
          </a:xfrm>
        </p:grpSpPr>
        <p:sp>
          <p:nvSpPr>
            <p:cNvPr id="309" name="Google Shape;309;g3f9b804d1d0_4_2"/>
            <p:cNvSpPr/>
            <p:nvPr/>
          </p:nvSpPr>
          <p:spPr>
            <a:xfrm>
              <a:off x="1038050" y="4111250"/>
              <a:ext cx="7240800" cy="755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" name="Google Shape;310;g3f9b804d1d0_4_2"/>
            <p:cNvSpPr txBox="1"/>
            <p:nvPr/>
          </p:nvSpPr>
          <p:spPr>
            <a:xfrm>
              <a:off x="973228" y="3994250"/>
              <a:ext cx="7197300" cy="75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15000"/>
                </a:lnSpc>
                <a:spcBef>
                  <a:spcPts val="120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pt-BR" sz="1100" b="0" i="0" u="none" strike="noStrike" cap="none" dirty="0">
                  <a:solidFill>
                    <a:srgbClr val="085630"/>
                  </a:solidFill>
                  <a:latin typeface="Nunito"/>
                  <a:ea typeface="Nunito"/>
                  <a:cs typeface="Nunito"/>
                  <a:sym typeface="Nunito"/>
                </a:rPr>
                <a:t>Acompanhar cada plataforma de perto nos permite identificar desafios e direcionar os esforços de mobilização onde são mais necessários. </a:t>
              </a:r>
              <a:r>
                <a:rPr lang="pt-BR" sz="1100" b="1" i="0" u="none" strike="noStrike" cap="none" dirty="0" err="1">
                  <a:solidFill>
                    <a:srgbClr val="085630"/>
                  </a:solidFill>
                  <a:latin typeface="Nunito"/>
                  <a:ea typeface="Nunito"/>
                  <a:cs typeface="Nunito"/>
                  <a:sym typeface="Nunito"/>
                </a:rPr>
                <a:t>Plurall</a:t>
              </a:r>
              <a:r>
                <a:rPr lang="pt-BR" sz="1100" b="1" i="0" u="none" strike="noStrike" cap="none" dirty="0">
                  <a:solidFill>
                    <a:srgbClr val="085630"/>
                  </a:solidFill>
                  <a:latin typeface="Nunito"/>
                  <a:ea typeface="Nunito"/>
                  <a:cs typeface="Nunito"/>
                  <a:sym typeface="Nunito"/>
                </a:rPr>
                <a:t> e Avalia Potiguar fazem parte de um mesmo RAPP: o avanço em apenas uma delas não representa, sozinho, o sucesso que buscamos para os </a:t>
              </a:r>
              <a:r>
                <a:rPr lang="pt-BR" sz="1100" b="1" i="0" u="none" strike="noStrike" cap="none" dirty="0">
                  <a:solidFill>
                    <a:srgbClr val="085630"/>
                  </a:solidFill>
                  <a:latin typeface="Nunito"/>
                  <a:ea typeface="Nunito"/>
                  <a:cs typeface="Nunito"/>
                  <a:sym typeface="Nunito"/>
                  <a:extLst>
                    <a:ext uri="http://customooxmlschemas.google.com/">
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3"/>
                    </a:ext>
                  </a:extLst>
                </a:rPr>
                <a:t>estudantes</a:t>
              </a:r>
              <a:r>
                <a:rPr lang="pt-BR" sz="1100" b="1" i="0" u="none" strike="noStrike" cap="none" dirty="0">
                  <a:solidFill>
                    <a:srgbClr val="085630"/>
                  </a:solidFill>
                  <a:latin typeface="Nunito"/>
                  <a:ea typeface="Nunito"/>
                  <a:cs typeface="Nunito"/>
                  <a:sym typeface="Nunito"/>
                </a:rPr>
                <a:t>.</a:t>
              </a:r>
              <a:endParaRPr sz="1100" b="1" i="0" u="none" strike="noStrike" cap="none" dirty="0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endParaRPr>
            </a:p>
            <a:p>
              <a:pPr marL="0" marR="0" lvl="0" indent="0" algn="r" rtl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endParaRPr sz="16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11" name="Google Shape;311;g3f9b804d1d0_4_2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12" name="Google Shape;312;g3f9b804d1d0_4_2"/>
          <p:cNvSpPr txBox="1"/>
          <p:nvPr/>
        </p:nvSpPr>
        <p:spPr>
          <a:xfrm>
            <a:off x="5163825" y="1163372"/>
            <a:ext cx="2147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Plurall</a:t>
            </a:r>
            <a:endParaRPr sz="16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13" name="Google Shape;313;g3f9b804d1d0_4_2"/>
          <p:cNvCxnSpPr/>
          <p:nvPr/>
        </p:nvCxnSpPr>
        <p:spPr>
          <a:xfrm>
            <a:off x="5812851" y="1913760"/>
            <a:ext cx="0" cy="1266000"/>
          </a:xfrm>
          <a:prstGeom prst="straightConnector1">
            <a:avLst/>
          </a:prstGeom>
          <a:noFill/>
          <a:ln w="9525" cap="flat" cmpd="sng">
            <a:solidFill>
              <a:srgbClr val="08563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4" name="Google Shape;314;g3f9b804d1d0_4_2"/>
          <p:cNvCxnSpPr/>
          <p:nvPr/>
        </p:nvCxnSpPr>
        <p:spPr>
          <a:xfrm>
            <a:off x="7384499" y="1913748"/>
            <a:ext cx="0" cy="1266000"/>
          </a:xfrm>
          <a:prstGeom prst="straightConnector1">
            <a:avLst/>
          </a:prstGeom>
          <a:noFill/>
          <a:ln w="9525" cap="flat" cmpd="sng">
            <a:solidFill>
              <a:srgbClr val="08563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5" name="Google Shape;315;g3f9b804d1d0_4_2"/>
          <p:cNvSpPr/>
          <p:nvPr/>
        </p:nvSpPr>
        <p:spPr>
          <a:xfrm>
            <a:off x="4935238" y="1657885"/>
            <a:ext cx="319200" cy="307800"/>
          </a:xfrm>
          <a:prstGeom prst="ellipse">
            <a:avLst/>
          </a:prstGeom>
          <a:solidFill>
            <a:srgbClr val="0856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g3f9b804d1d0_4_2"/>
          <p:cNvSpPr/>
          <p:nvPr/>
        </p:nvSpPr>
        <p:spPr>
          <a:xfrm>
            <a:off x="6393650" y="1657885"/>
            <a:ext cx="319200" cy="307800"/>
          </a:xfrm>
          <a:prstGeom prst="ellipse">
            <a:avLst/>
          </a:prstGeom>
          <a:solidFill>
            <a:srgbClr val="0856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g3f9b804d1d0_4_2"/>
          <p:cNvSpPr/>
          <p:nvPr/>
        </p:nvSpPr>
        <p:spPr>
          <a:xfrm>
            <a:off x="8047481" y="1657885"/>
            <a:ext cx="319200" cy="307800"/>
          </a:xfrm>
          <a:prstGeom prst="ellipse">
            <a:avLst/>
          </a:prstGeom>
          <a:solidFill>
            <a:srgbClr val="0856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8" name="Google Shape;318;g3f9b804d1d0_4_2"/>
          <p:cNvPicPr preferRelativeResize="0"/>
          <p:nvPr/>
        </p:nvPicPr>
        <p:blipFill rotWithShape="1">
          <a:blip r:embed="rId4">
            <a:alphaModFix/>
          </a:blip>
          <a:srcRect t="12337" r="73213" b="49818"/>
          <a:stretch/>
        </p:blipFill>
        <p:spPr>
          <a:xfrm>
            <a:off x="4958303" y="1695110"/>
            <a:ext cx="247749" cy="2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19" name="Google Shape;319;g3f9b804d1d0_4_2"/>
          <p:cNvPicPr preferRelativeResize="0"/>
          <p:nvPr/>
        </p:nvPicPr>
        <p:blipFill rotWithShape="1">
          <a:blip r:embed="rId4">
            <a:alphaModFix/>
          </a:blip>
          <a:srcRect l="27646" t="10021" r="49529" b="52134"/>
          <a:stretch/>
        </p:blipFill>
        <p:spPr>
          <a:xfrm>
            <a:off x="6447701" y="1685585"/>
            <a:ext cx="211112" cy="2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g3f9b804d1d0_4_2"/>
          <p:cNvPicPr preferRelativeResize="0"/>
          <p:nvPr/>
        </p:nvPicPr>
        <p:blipFill rotWithShape="1">
          <a:blip r:embed="rId4">
            <a:alphaModFix/>
          </a:blip>
          <a:srcRect l="76904" t="10793" r="3091" b="51362"/>
          <a:stretch/>
        </p:blipFill>
        <p:spPr>
          <a:xfrm>
            <a:off x="8114571" y="1685585"/>
            <a:ext cx="185027" cy="23334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g3f9b804d1d0_4_2"/>
          <p:cNvSpPr txBox="1"/>
          <p:nvPr/>
        </p:nvSpPr>
        <p:spPr>
          <a:xfrm>
            <a:off x="4571878" y="1990460"/>
            <a:ext cx="104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1" i="0" u="none" strike="noStrike" cap="none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AGENDAMENTOS </a:t>
            </a:r>
            <a:endParaRPr sz="7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2" name="Google Shape;322;g3f9b804d1d0_4_2"/>
          <p:cNvSpPr txBox="1"/>
          <p:nvPr/>
        </p:nvSpPr>
        <p:spPr>
          <a:xfrm>
            <a:off x="4496428" y="2209660"/>
            <a:ext cx="11715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Avaliações </a:t>
            </a:r>
            <a:b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agendadas</a:t>
            </a:r>
            <a:endParaRPr sz="7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3" name="Google Shape;323;g3f9b804d1d0_4_2"/>
          <p:cNvSpPr txBox="1"/>
          <p:nvPr/>
        </p:nvSpPr>
        <p:spPr>
          <a:xfrm>
            <a:off x="6038927" y="1980935"/>
            <a:ext cx="104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1" i="0" u="none" strike="noStrike" cap="none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LIBERAÇÕES</a:t>
            </a:r>
            <a:endParaRPr sz="7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4" name="Google Shape;324;g3f9b804d1d0_4_2"/>
          <p:cNvSpPr txBox="1"/>
          <p:nvPr/>
        </p:nvSpPr>
        <p:spPr>
          <a:xfrm>
            <a:off x="5963477" y="2200135"/>
            <a:ext cx="11715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Estudantes liberados </a:t>
            </a:r>
            <a:b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do Rapp</a:t>
            </a:r>
            <a:endParaRPr sz="7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5" name="Google Shape;325;g3f9b804d1d0_4_2"/>
          <p:cNvSpPr txBox="1"/>
          <p:nvPr/>
        </p:nvSpPr>
        <p:spPr>
          <a:xfrm>
            <a:off x="7659645" y="1993885"/>
            <a:ext cx="104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1" i="0" u="none" strike="noStrike" cap="none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PENDÊNCIA POR COMPONENTE</a:t>
            </a:r>
            <a:endParaRPr sz="7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6" name="Google Shape;326;g3f9b804d1d0_4_2"/>
          <p:cNvSpPr txBox="1"/>
          <p:nvPr/>
        </p:nvSpPr>
        <p:spPr>
          <a:xfrm>
            <a:off x="7584195" y="2213085"/>
            <a:ext cx="11715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Componentes ainda com pendência de avaliação </a:t>
            </a:r>
            <a:endParaRPr sz="7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27" name="Google Shape;327;g3f9b804d1d0_4_2"/>
          <p:cNvSpPr txBox="1"/>
          <p:nvPr/>
        </p:nvSpPr>
        <p:spPr>
          <a:xfrm>
            <a:off x="4781078" y="2645797"/>
            <a:ext cx="636043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800" b="1" i="0" u="none" strike="noStrike" cap="none" dirty="0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{{%_</a:t>
            </a:r>
            <a:r>
              <a:rPr lang="pt-BR" sz="800" b="1" i="0" u="none" strike="noStrike" cap="none" dirty="0" err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agend_plurall</a:t>
            </a:r>
            <a:r>
              <a:rPr lang="pt-BR" sz="800" b="1" i="0" u="none" strike="noStrike" cap="none" dirty="0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800" b="1" i="0" u="none" strike="noStrike" cap="none" dirty="0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g3f9b804d1d0_4_2"/>
          <p:cNvSpPr txBox="1"/>
          <p:nvPr/>
        </p:nvSpPr>
        <p:spPr>
          <a:xfrm>
            <a:off x="4591528" y="2959547"/>
            <a:ext cx="9669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 dirty="0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700" b="0" i="0" u="none" strike="noStrike" cap="none" dirty="0" err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agend_plurall</a:t>
            </a:r>
            <a:r>
              <a:rPr lang="pt-BR" sz="700" b="0" i="0" u="none" strike="noStrike" cap="none" dirty="0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700" b="0" i="0" u="none" strike="noStrike" cap="none" dirty="0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0" name="Google Shape;330;g3f9b804d1d0_4_2"/>
          <p:cNvSpPr txBox="1"/>
          <p:nvPr/>
        </p:nvSpPr>
        <p:spPr>
          <a:xfrm>
            <a:off x="6069790" y="2959535"/>
            <a:ext cx="9669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 dirty="0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700" b="0" i="0" u="none" strike="noStrike" cap="none" dirty="0" err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liberad_plurall</a:t>
            </a:r>
            <a:r>
              <a:rPr lang="pt-BR" sz="700" b="0" i="0" u="none" strike="noStrike" cap="none" dirty="0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700" b="0" i="0" u="none" strike="noStrike" cap="none" dirty="0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2" name="Google Shape;332;g3f9b804d1d0_4_2"/>
          <p:cNvSpPr txBox="1"/>
          <p:nvPr/>
        </p:nvSpPr>
        <p:spPr>
          <a:xfrm>
            <a:off x="7659645" y="2964322"/>
            <a:ext cx="9669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 dirty="0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700" b="0" i="0" u="none" strike="noStrike" cap="none" dirty="0" err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penden_plurall</a:t>
            </a:r>
            <a:r>
              <a:rPr lang="pt-BR" sz="700" b="0" i="0" u="none" strike="noStrike" cap="none" dirty="0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700" b="0" i="0" u="none" strike="noStrike" cap="none" dirty="0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3" name="Google Shape;333;g3f9b804d1d0_4_2"/>
          <p:cNvSpPr/>
          <p:nvPr/>
        </p:nvSpPr>
        <p:spPr>
          <a:xfrm>
            <a:off x="5031800" y="3377147"/>
            <a:ext cx="3126000" cy="195300"/>
          </a:xfrm>
          <a:prstGeom prst="rect">
            <a:avLst/>
          </a:prstGeom>
          <a:solidFill>
            <a:srgbClr val="08563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g3f9b804d1d0_4_2"/>
          <p:cNvSpPr txBox="1"/>
          <p:nvPr/>
        </p:nvSpPr>
        <p:spPr>
          <a:xfrm>
            <a:off x="5371500" y="3328122"/>
            <a:ext cx="29058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Dados extraídos da </a:t>
            </a:r>
            <a:r>
              <a:rPr lang="pt-BR" sz="900" b="0" i="0" u="none" strike="noStrike" cap="none" dirty="0" err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Plurall</a:t>
            </a:r>
            <a:r>
              <a:rPr lang="pt-BR" sz="900" b="0" i="0" u="none" strike="noStrike" cap="none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 até {{data}}</a:t>
            </a:r>
            <a:endParaRPr sz="900" b="0" i="0" u="none" strike="noStrike" cap="none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5" name="Google Shape;335;g3f9b804d1d0_4_2"/>
          <p:cNvSpPr/>
          <p:nvPr/>
        </p:nvSpPr>
        <p:spPr>
          <a:xfrm>
            <a:off x="129903" y="1184988"/>
            <a:ext cx="4248600" cy="2551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C47E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g3f9b804d1d0_4_2"/>
          <p:cNvSpPr txBox="1"/>
          <p:nvPr/>
        </p:nvSpPr>
        <p:spPr>
          <a:xfrm>
            <a:off x="755692" y="1184325"/>
            <a:ext cx="21477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Avalia Potiguar</a:t>
            </a:r>
            <a:endParaRPr sz="1600" b="1" i="0" u="none" strike="noStrike" cap="none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337" name="Google Shape;337;g3f9b804d1d0_4_2"/>
          <p:cNvCxnSpPr/>
          <p:nvPr/>
        </p:nvCxnSpPr>
        <p:spPr>
          <a:xfrm>
            <a:off x="1397729" y="1934713"/>
            <a:ext cx="0" cy="1266000"/>
          </a:xfrm>
          <a:prstGeom prst="straightConnector1">
            <a:avLst/>
          </a:prstGeom>
          <a:noFill/>
          <a:ln w="9525" cap="flat" cmpd="sng">
            <a:solidFill>
              <a:srgbClr val="C47E3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38" name="Google Shape;338;g3f9b804d1d0_4_2"/>
          <p:cNvCxnSpPr/>
          <p:nvPr/>
        </p:nvCxnSpPr>
        <p:spPr>
          <a:xfrm>
            <a:off x="3046250" y="1934701"/>
            <a:ext cx="0" cy="1266000"/>
          </a:xfrm>
          <a:prstGeom prst="straightConnector1">
            <a:avLst/>
          </a:prstGeom>
          <a:noFill/>
          <a:ln w="9525" cap="flat" cmpd="sng">
            <a:solidFill>
              <a:srgbClr val="C47E3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9" name="Google Shape;339;g3f9b804d1d0_4_2"/>
          <p:cNvSpPr/>
          <p:nvPr/>
        </p:nvSpPr>
        <p:spPr>
          <a:xfrm>
            <a:off x="750736" y="1678838"/>
            <a:ext cx="319200" cy="307800"/>
          </a:xfrm>
          <a:prstGeom prst="ellipse">
            <a:avLst/>
          </a:prstGeom>
          <a:solidFill>
            <a:srgbClr val="FBCE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g3f9b804d1d0_4_2"/>
          <p:cNvSpPr/>
          <p:nvPr/>
        </p:nvSpPr>
        <p:spPr>
          <a:xfrm>
            <a:off x="2041425" y="1678838"/>
            <a:ext cx="319200" cy="307800"/>
          </a:xfrm>
          <a:prstGeom prst="ellipse">
            <a:avLst/>
          </a:prstGeom>
          <a:solidFill>
            <a:srgbClr val="FBCE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g3f9b804d1d0_4_2"/>
          <p:cNvSpPr/>
          <p:nvPr/>
        </p:nvSpPr>
        <p:spPr>
          <a:xfrm>
            <a:off x="3567642" y="1680666"/>
            <a:ext cx="319200" cy="307800"/>
          </a:xfrm>
          <a:prstGeom prst="ellipse">
            <a:avLst/>
          </a:prstGeom>
          <a:solidFill>
            <a:srgbClr val="FBCEA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g3f9b804d1d0_4_2"/>
          <p:cNvSpPr txBox="1"/>
          <p:nvPr/>
        </p:nvSpPr>
        <p:spPr>
          <a:xfrm>
            <a:off x="387375" y="2011413"/>
            <a:ext cx="104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1" i="0" u="none" strike="noStrike" cap="none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AGENDAMENTOS </a:t>
            </a:r>
            <a:endParaRPr sz="700" b="1" i="0" u="none" strike="noStrike" cap="none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3" name="Google Shape;343;g3f9b804d1d0_4_2"/>
          <p:cNvSpPr txBox="1"/>
          <p:nvPr/>
        </p:nvSpPr>
        <p:spPr>
          <a:xfrm>
            <a:off x="311925" y="2230613"/>
            <a:ext cx="11715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Avaliações </a:t>
            </a:r>
            <a:b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agendadas</a:t>
            </a:r>
            <a:endParaRPr sz="7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4" name="Google Shape;344;g3f9b804d1d0_4_2"/>
          <p:cNvSpPr txBox="1"/>
          <p:nvPr/>
        </p:nvSpPr>
        <p:spPr>
          <a:xfrm>
            <a:off x="1686702" y="2001888"/>
            <a:ext cx="104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1" i="0" u="none" strike="noStrike" cap="none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LIBERAÇÕES</a:t>
            </a:r>
            <a:endParaRPr sz="700" b="1" i="0" u="none" strike="noStrike" cap="none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5" name="Google Shape;345;g3f9b804d1d0_4_2"/>
          <p:cNvSpPr txBox="1"/>
          <p:nvPr/>
        </p:nvSpPr>
        <p:spPr>
          <a:xfrm>
            <a:off x="1611252" y="2221088"/>
            <a:ext cx="11715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Estudantes liberados </a:t>
            </a:r>
            <a:b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</a:b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do Rapp</a:t>
            </a:r>
            <a:endParaRPr sz="7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6" name="Google Shape;346;g3f9b804d1d0_4_2"/>
          <p:cNvSpPr txBox="1"/>
          <p:nvPr/>
        </p:nvSpPr>
        <p:spPr>
          <a:xfrm>
            <a:off x="3209582" y="2014838"/>
            <a:ext cx="104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1" i="0" u="none" strike="noStrike" cap="none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PENDÊNCIA POR COMPONENTE</a:t>
            </a:r>
            <a:endParaRPr sz="700" b="1" i="0" u="none" strike="noStrike" cap="none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7" name="Google Shape;347;g3f9b804d1d0_4_2"/>
          <p:cNvSpPr txBox="1"/>
          <p:nvPr/>
        </p:nvSpPr>
        <p:spPr>
          <a:xfrm>
            <a:off x="3134132" y="2234038"/>
            <a:ext cx="11715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Componentes ainda com pendência de avaliação </a:t>
            </a:r>
            <a:endParaRPr sz="7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48" name="Google Shape;348;g3f9b804d1d0_4_2"/>
          <p:cNvSpPr txBox="1"/>
          <p:nvPr/>
        </p:nvSpPr>
        <p:spPr>
          <a:xfrm>
            <a:off x="583921" y="2640175"/>
            <a:ext cx="689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800" b="1" i="0" u="none" strike="noStrike" cap="none" dirty="0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{{%_</a:t>
            </a:r>
            <a:r>
              <a:rPr lang="pt-BR" sz="800" b="1" i="0" u="none" strike="noStrike" cap="none" dirty="0" err="1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agend_avalia</a:t>
            </a:r>
            <a:r>
              <a:rPr lang="pt-BR" sz="800" b="1" i="0" u="none" strike="noStrike" cap="none" dirty="0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800" b="1" i="0" u="none" strike="noStrike" cap="none" dirty="0">
              <a:solidFill>
                <a:srgbClr val="C47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g3f9b804d1d0_4_2"/>
          <p:cNvSpPr txBox="1"/>
          <p:nvPr/>
        </p:nvSpPr>
        <p:spPr>
          <a:xfrm>
            <a:off x="407025" y="2980500"/>
            <a:ext cx="9669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dirty="0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700" dirty="0" err="1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agend_avalia</a:t>
            </a:r>
            <a:r>
              <a:rPr lang="pt-BR" sz="700" dirty="0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700" b="0" i="0" u="none" strike="noStrike" cap="none" dirty="0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1" name="Google Shape;351;g3f9b804d1d0_4_2"/>
          <p:cNvSpPr txBox="1"/>
          <p:nvPr/>
        </p:nvSpPr>
        <p:spPr>
          <a:xfrm>
            <a:off x="1717564" y="2980488"/>
            <a:ext cx="9669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b="0" i="0" u="none" strike="noStrike" cap="none" dirty="0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700" b="0" i="0" u="none" strike="noStrike" cap="none" dirty="0" err="1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liberad_avalia</a:t>
            </a:r>
            <a:r>
              <a:rPr lang="pt-BR" sz="700" b="0" i="0" u="none" strike="noStrike" cap="none" dirty="0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700" b="0" i="0" u="none" strike="noStrike" cap="none" dirty="0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3" name="Google Shape;353;g3f9b804d1d0_4_2"/>
          <p:cNvSpPr txBox="1"/>
          <p:nvPr/>
        </p:nvSpPr>
        <p:spPr>
          <a:xfrm>
            <a:off x="3209582" y="2985275"/>
            <a:ext cx="9669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pt-BR" sz="700" dirty="0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{{</a:t>
            </a:r>
            <a:r>
              <a:rPr lang="pt-BR" sz="700" dirty="0" err="1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penden_avalia</a:t>
            </a:r>
            <a:r>
              <a:rPr lang="pt-BR" sz="700" dirty="0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}}</a:t>
            </a:r>
            <a:endParaRPr sz="700" b="0" i="0" u="none" strike="noStrike" cap="none" dirty="0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4" name="Google Shape;354;g3f9b804d1d0_4_2"/>
          <p:cNvSpPr/>
          <p:nvPr/>
        </p:nvSpPr>
        <p:spPr>
          <a:xfrm>
            <a:off x="623667" y="3398100"/>
            <a:ext cx="3126000" cy="195300"/>
          </a:xfrm>
          <a:prstGeom prst="rect">
            <a:avLst/>
          </a:prstGeom>
          <a:solidFill>
            <a:srgbClr val="C47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C47E3C"/>
              </a:solidFill>
              <a:highlight>
                <a:srgbClr val="C47E3C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g3f9b804d1d0_4_2"/>
          <p:cNvSpPr txBox="1"/>
          <p:nvPr/>
        </p:nvSpPr>
        <p:spPr>
          <a:xfrm>
            <a:off x="963367" y="3349075"/>
            <a:ext cx="29058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0" i="0" u="none" strike="noStrike" cap="none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Dados extraídos do Avalia até </a:t>
            </a:r>
            <a:r>
              <a:rPr lang="pt-BR" sz="900" dirty="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{{data}}</a:t>
            </a:r>
            <a:endParaRPr sz="900" b="0" i="0" u="none" strike="noStrike" cap="none" dirty="0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56" name="Google Shape;356;g3f9b804d1d0_4_2"/>
          <p:cNvSpPr txBox="1"/>
          <p:nvPr/>
        </p:nvSpPr>
        <p:spPr>
          <a:xfrm>
            <a:off x="238616" y="271757"/>
            <a:ext cx="5321100" cy="5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lang="pt-BR" sz="23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Um olhar para </a:t>
            </a:r>
            <a:r>
              <a:rPr lang="pt-BR" sz="23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  <a:extLst>
                  <a:ext uri="http://customooxmlschemas.google.com/">
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</a:ext>
                </a:extLst>
              </a:rPr>
              <a:t>cada</a:t>
            </a:r>
            <a:r>
              <a:rPr lang="pt-BR" sz="23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 plataforma</a:t>
            </a:r>
            <a:endParaRPr sz="23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pic>
        <p:nvPicPr>
          <p:cNvPr id="357" name="Google Shape;357;g3f9b804d1d0_4_2"/>
          <p:cNvPicPr preferRelativeResize="0"/>
          <p:nvPr/>
        </p:nvPicPr>
        <p:blipFill rotWithShape="1">
          <a:blip r:embed="rId4">
            <a:alphaModFix/>
          </a:blip>
          <a:srcRect t="46306" r="73213" b="15849"/>
          <a:stretch/>
        </p:blipFill>
        <p:spPr>
          <a:xfrm>
            <a:off x="765483" y="1696610"/>
            <a:ext cx="247749" cy="2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8" name="Google Shape;358;g3f9b804d1d0_4_2"/>
          <p:cNvPicPr preferRelativeResize="0"/>
          <p:nvPr/>
        </p:nvPicPr>
        <p:blipFill rotWithShape="1">
          <a:blip r:embed="rId4">
            <a:alphaModFix/>
          </a:blip>
          <a:srcRect l="27646" t="46306" r="49529" b="15849"/>
          <a:stretch/>
        </p:blipFill>
        <p:spPr>
          <a:xfrm>
            <a:off x="2095472" y="1706560"/>
            <a:ext cx="211112" cy="2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59" name="Google Shape;359;g3f9b804d1d0_4_2"/>
          <p:cNvPicPr preferRelativeResize="0"/>
          <p:nvPr/>
        </p:nvPicPr>
        <p:blipFill rotWithShape="1">
          <a:blip r:embed="rId4">
            <a:alphaModFix/>
          </a:blip>
          <a:srcRect l="76904" t="46306" r="3091" b="15849"/>
          <a:stretch/>
        </p:blipFill>
        <p:spPr>
          <a:xfrm>
            <a:off x="3640852" y="1719510"/>
            <a:ext cx="185027" cy="233349"/>
          </a:xfrm>
          <a:prstGeom prst="rect">
            <a:avLst/>
          </a:prstGeom>
          <a:noFill/>
          <a:ln>
            <a:noFill/>
          </a:ln>
        </p:spPr>
      </p:pic>
      <p:pic>
        <p:nvPicPr>
          <p:cNvPr id="360" name="Google Shape;360;g3f9b804d1d0_4_2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2200" y="3826525"/>
            <a:ext cx="1014275" cy="676175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Google Shape;348;g3f9b804d1d0_4_2">
            <a:extLst>
              <a:ext uri="{FF2B5EF4-FFF2-40B4-BE49-F238E27FC236}">
                <a16:creationId xmlns:a16="http://schemas.microsoft.com/office/drawing/2014/main" id="{3D578B39-3A8A-184E-BA54-B4217AF5CF9F}"/>
              </a:ext>
            </a:extLst>
          </p:cNvPr>
          <p:cNvSpPr txBox="1"/>
          <p:nvPr/>
        </p:nvSpPr>
        <p:spPr>
          <a:xfrm>
            <a:off x="1852302" y="2666388"/>
            <a:ext cx="6894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800" b="1" i="0" u="none" strike="noStrike" cap="none" dirty="0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{{%_</a:t>
            </a:r>
            <a:r>
              <a:rPr lang="pt-BR" sz="800" b="1" i="0" u="none" strike="noStrike" cap="none" dirty="0" err="1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liberad_avalia</a:t>
            </a:r>
            <a:r>
              <a:rPr lang="pt-BR" sz="800" b="1" i="0" u="none" strike="noStrike" cap="none" dirty="0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800" b="1" i="0" u="none" strike="noStrike" cap="none" dirty="0">
              <a:solidFill>
                <a:srgbClr val="C47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348;g3f9b804d1d0_4_2">
            <a:extLst>
              <a:ext uri="{FF2B5EF4-FFF2-40B4-BE49-F238E27FC236}">
                <a16:creationId xmlns:a16="http://schemas.microsoft.com/office/drawing/2014/main" id="{5D086A9F-9E67-CB53-D5A7-04A2F6F3EA88}"/>
              </a:ext>
            </a:extLst>
          </p:cNvPr>
          <p:cNvSpPr txBox="1"/>
          <p:nvPr/>
        </p:nvSpPr>
        <p:spPr>
          <a:xfrm>
            <a:off x="3342523" y="2680138"/>
            <a:ext cx="770826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800" b="1" i="0" u="none" strike="noStrike" cap="none" dirty="0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{{%_</a:t>
            </a:r>
            <a:r>
              <a:rPr lang="pt-BR" sz="800" b="1" i="0" u="none" strike="noStrike" cap="none" dirty="0" err="1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penden_avalia</a:t>
            </a:r>
            <a:r>
              <a:rPr lang="pt-BR" sz="800" b="1" i="0" u="none" strike="noStrike" cap="none" dirty="0">
                <a:solidFill>
                  <a:srgbClr val="C47E3C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800" b="1" i="0" u="none" strike="noStrike" cap="none" dirty="0">
              <a:solidFill>
                <a:srgbClr val="C47E3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27;g3f9b804d1d0_4_2">
            <a:extLst>
              <a:ext uri="{FF2B5EF4-FFF2-40B4-BE49-F238E27FC236}">
                <a16:creationId xmlns:a16="http://schemas.microsoft.com/office/drawing/2014/main" id="{1C5F452F-5428-B2B3-E797-3850A59BFB40}"/>
              </a:ext>
            </a:extLst>
          </p:cNvPr>
          <p:cNvSpPr txBox="1"/>
          <p:nvPr/>
        </p:nvSpPr>
        <p:spPr>
          <a:xfrm>
            <a:off x="6202524" y="2637411"/>
            <a:ext cx="690109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800" b="1" i="0" u="none" strike="noStrike" cap="none" dirty="0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{{%_</a:t>
            </a:r>
            <a:r>
              <a:rPr lang="pt-BR" sz="800" b="1" i="0" u="none" strike="noStrike" cap="none" dirty="0" err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liberad_plurall</a:t>
            </a:r>
            <a:r>
              <a:rPr lang="pt-BR" sz="800" b="1" i="0" u="none" strike="noStrike" cap="none" dirty="0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800" b="1" i="0" u="none" strike="noStrike" cap="none" dirty="0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27;g3f9b804d1d0_4_2">
            <a:extLst>
              <a:ext uri="{FF2B5EF4-FFF2-40B4-BE49-F238E27FC236}">
                <a16:creationId xmlns:a16="http://schemas.microsoft.com/office/drawing/2014/main" id="{A6923699-DC0D-4781-0C9B-3592B3C91E0D}"/>
              </a:ext>
            </a:extLst>
          </p:cNvPr>
          <p:cNvSpPr txBox="1"/>
          <p:nvPr/>
        </p:nvSpPr>
        <p:spPr>
          <a:xfrm>
            <a:off x="7775418" y="2655115"/>
            <a:ext cx="733577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800" b="1" i="0" u="none" strike="noStrike" cap="none" dirty="0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{{%_</a:t>
            </a:r>
            <a:r>
              <a:rPr lang="pt-BR" sz="800" b="1" i="0" u="none" strike="noStrike" cap="none" dirty="0" err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penden_plurall</a:t>
            </a:r>
            <a:r>
              <a:rPr lang="pt-BR" sz="800" b="1" i="0" u="none" strike="noStrike" cap="none" dirty="0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800" b="1" i="0" u="none" strike="noStrike" cap="none" dirty="0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f8812c830a_0_209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66" name="Google Shape;366;g3f8812c830a_0_209"/>
          <p:cNvSpPr txBox="1"/>
          <p:nvPr/>
        </p:nvSpPr>
        <p:spPr>
          <a:xfrm>
            <a:off x="127051" y="151475"/>
            <a:ext cx="44886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25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Panorama por DIREC Avalia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367" name="Google Shape;367;g3f8812c830a_0_209"/>
          <p:cNvSpPr txBox="1"/>
          <p:nvPr/>
        </p:nvSpPr>
        <p:spPr>
          <a:xfrm>
            <a:off x="127175" y="641875"/>
            <a:ext cx="179168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Total de Agendamentos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391;g3f8812c830a_0_230">
            <a:extLst>
              <a:ext uri="{FF2B5EF4-FFF2-40B4-BE49-F238E27FC236}">
                <a16:creationId xmlns:a16="http://schemas.microsoft.com/office/drawing/2014/main" id="{A77CE098-EB38-DC51-C702-4AE9D35C7EBF}"/>
              </a:ext>
            </a:extLst>
          </p:cNvPr>
          <p:cNvSpPr txBox="1"/>
          <p:nvPr/>
        </p:nvSpPr>
        <p:spPr>
          <a:xfrm>
            <a:off x="1704109" y="1738772"/>
            <a:ext cx="7177393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graf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pt-BR" sz="1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%_</a:t>
            </a:r>
            <a:r>
              <a:rPr lang="pt-BR" sz="1600" b="1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agendamentos_direc_avalia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84;g3f8812c830a_0_223">
            <a:extLst>
              <a:ext uri="{FF2B5EF4-FFF2-40B4-BE49-F238E27FC236}">
                <a16:creationId xmlns:a16="http://schemas.microsoft.com/office/drawing/2014/main" id="{60133FEB-9A2F-FFC5-C8F1-7F8F69FCC05E}"/>
              </a:ext>
            </a:extLst>
          </p:cNvPr>
          <p:cNvSpPr txBox="1"/>
          <p:nvPr/>
        </p:nvSpPr>
        <p:spPr>
          <a:xfrm>
            <a:off x="127051" y="1170917"/>
            <a:ext cx="2165752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agend_avalia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3f8812c830a_0_216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74" name="Google Shape;374;g3f8812c830a_0_216"/>
          <p:cNvSpPr txBox="1"/>
          <p:nvPr/>
        </p:nvSpPr>
        <p:spPr>
          <a:xfrm>
            <a:off x="127052" y="151475"/>
            <a:ext cx="48228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25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Panorama por DIREC Avalia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375" name="Google Shape;375;g3f8812c830a_0_216"/>
          <p:cNvSpPr txBox="1"/>
          <p:nvPr/>
        </p:nvSpPr>
        <p:spPr>
          <a:xfrm>
            <a:off x="127176" y="641874"/>
            <a:ext cx="1732800" cy="6971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Liberados do RAPP total</a:t>
            </a:r>
          </a:p>
        </p:txBody>
      </p:sp>
      <p:sp>
        <p:nvSpPr>
          <p:cNvPr id="3" name="Google Shape;391;g3f8812c830a_0_230">
            <a:extLst>
              <a:ext uri="{FF2B5EF4-FFF2-40B4-BE49-F238E27FC236}">
                <a16:creationId xmlns:a16="http://schemas.microsoft.com/office/drawing/2014/main" id="{E19C7C1D-26ED-BB3C-530A-DE008C426CB6}"/>
              </a:ext>
            </a:extLst>
          </p:cNvPr>
          <p:cNvSpPr txBox="1"/>
          <p:nvPr/>
        </p:nvSpPr>
        <p:spPr>
          <a:xfrm>
            <a:off x="1704109" y="1738772"/>
            <a:ext cx="7177393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graf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pt-BR" sz="1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%_</a:t>
            </a:r>
            <a:r>
              <a:rPr lang="pt-BR" sz="1600" b="1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liberados_direc_avalia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91;g3f8812c830a_0_230">
            <a:extLst>
              <a:ext uri="{FF2B5EF4-FFF2-40B4-BE49-F238E27FC236}">
                <a16:creationId xmlns:a16="http://schemas.microsoft.com/office/drawing/2014/main" id="{C19A4F17-F590-E5B9-A98F-131C675B5D4E}"/>
              </a:ext>
            </a:extLst>
          </p:cNvPr>
          <p:cNvSpPr txBox="1"/>
          <p:nvPr/>
        </p:nvSpPr>
        <p:spPr>
          <a:xfrm>
            <a:off x="127052" y="1165247"/>
            <a:ext cx="2345984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liberad_avalia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3f8812c830a_0_223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82" name="Google Shape;382;g3f8812c830a_0_223"/>
          <p:cNvSpPr txBox="1"/>
          <p:nvPr/>
        </p:nvSpPr>
        <p:spPr>
          <a:xfrm>
            <a:off x="127051" y="151475"/>
            <a:ext cx="44886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25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Panorama por DIREC Plurall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384" name="Google Shape;384;g3f8812c830a_0_223"/>
          <p:cNvSpPr txBox="1"/>
          <p:nvPr/>
        </p:nvSpPr>
        <p:spPr>
          <a:xfrm>
            <a:off x="127175" y="641875"/>
            <a:ext cx="1487100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Total de Agendamentos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" name="Google Shape;384;g3f8812c830a_0_223">
            <a:extLst>
              <a:ext uri="{FF2B5EF4-FFF2-40B4-BE49-F238E27FC236}">
                <a16:creationId xmlns:a16="http://schemas.microsoft.com/office/drawing/2014/main" id="{F83E21B7-8982-FA1F-85BA-02115A3739AA}"/>
              </a:ext>
            </a:extLst>
          </p:cNvPr>
          <p:cNvSpPr txBox="1"/>
          <p:nvPr/>
        </p:nvSpPr>
        <p:spPr>
          <a:xfrm>
            <a:off x="127175" y="1187693"/>
            <a:ext cx="2165752" cy="80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agend_plurall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391;g3f8812c830a_0_230">
            <a:extLst>
              <a:ext uri="{FF2B5EF4-FFF2-40B4-BE49-F238E27FC236}">
                <a16:creationId xmlns:a16="http://schemas.microsoft.com/office/drawing/2014/main" id="{376EC18B-F1F1-2606-7F4D-A4A47FB7CEAC}"/>
              </a:ext>
            </a:extLst>
          </p:cNvPr>
          <p:cNvSpPr txBox="1"/>
          <p:nvPr/>
        </p:nvSpPr>
        <p:spPr>
          <a:xfrm>
            <a:off x="1704109" y="1738772"/>
            <a:ext cx="7177393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graf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pt-BR" sz="1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%_</a:t>
            </a:r>
            <a:r>
              <a:rPr lang="pt-BR" sz="1600" b="1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agendamentos_direc_plurall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f8812c830a_0_230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390" name="Google Shape;390;g3f8812c830a_0_230"/>
          <p:cNvSpPr txBox="1"/>
          <p:nvPr/>
        </p:nvSpPr>
        <p:spPr>
          <a:xfrm>
            <a:off x="127052" y="151475"/>
            <a:ext cx="48228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300"/>
              <a:buFont typeface="Arial"/>
              <a:buNone/>
            </a:pPr>
            <a:r>
              <a:rPr lang="pt-BR" sz="2500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Panorama por DIREC Plurall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391" name="Google Shape;391;g3f8812c830a_0_230"/>
          <p:cNvSpPr txBox="1"/>
          <p:nvPr/>
        </p:nvSpPr>
        <p:spPr>
          <a:xfrm>
            <a:off x="127176" y="641875"/>
            <a:ext cx="1732800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Liberados do RAPP total</a:t>
            </a:r>
          </a:p>
        </p:txBody>
      </p:sp>
      <p:sp>
        <p:nvSpPr>
          <p:cNvPr id="5" name="Google Shape;391;g3f8812c830a_0_230">
            <a:extLst>
              <a:ext uri="{FF2B5EF4-FFF2-40B4-BE49-F238E27FC236}">
                <a16:creationId xmlns:a16="http://schemas.microsoft.com/office/drawing/2014/main" id="{22E7E36A-11CF-4F93-5AAE-14E34C307D0E}"/>
              </a:ext>
            </a:extLst>
          </p:cNvPr>
          <p:cNvSpPr txBox="1"/>
          <p:nvPr/>
        </p:nvSpPr>
        <p:spPr>
          <a:xfrm>
            <a:off x="127052" y="1191975"/>
            <a:ext cx="2345984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liberad_plurall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391;g3f8812c830a_0_230">
            <a:extLst>
              <a:ext uri="{FF2B5EF4-FFF2-40B4-BE49-F238E27FC236}">
                <a16:creationId xmlns:a16="http://schemas.microsoft.com/office/drawing/2014/main" id="{29984CCA-6080-BE6D-2387-764E4DC58405}"/>
              </a:ext>
            </a:extLst>
          </p:cNvPr>
          <p:cNvSpPr txBox="1"/>
          <p:nvPr/>
        </p:nvSpPr>
        <p:spPr>
          <a:xfrm>
            <a:off x="1704109" y="1738772"/>
            <a:ext cx="7177393" cy="895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{{</a:t>
            </a:r>
            <a:r>
              <a:rPr lang="pt-BR" sz="1600" b="1" i="0" u="none" strike="noStrike" cap="none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graf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_</a:t>
            </a:r>
            <a:r>
              <a:rPr lang="pt-BR" sz="1600" b="1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%_</a:t>
            </a:r>
            <a:r>
              <a:rPr lang="pt-BR" sz="1600" b="1" dirty="0" err="1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liberados_direc_plurall</a:t>
            </a:r>
            <a:r>
              <a:rPr lang="pt-BR" sz="1600" b="1" i="0" u="none" strike="noStrike" cap="none" dirty="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rPr>
              <a:t>}}</a:t>
            </a:r>
            <a:endParaRPr sz="1600" b="1" i="0" u="none" strike="noStrike" cap="none" dirty="0">
              <a:solidFill>
                <a:schemeClr val="accent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A75B"/>
        </a:solidFill>
        <a:effectLst/>
      </p:bgPr>
    </p:bg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3f8812c830a_0_237"/>
          <p:cNvSpPr/>
          <p:nvPr/>
        </p:nvSpPr>
        <p:spPr>
          <a:xfrm>
            <a:off x="430243" y="1647934"/>
            <a:ext cx="1847631" cy="1847631"/>
          </a:xfrm>
          <a:custGeom>
            <a:avLst/>
            <a:gdLst/>
            <a:ahLst/>
            <a:cxnLst/>
            <a:rect l="l" t="t" r="r" b="b"/>
            <a:pathLst>
              <a:path w="3695263" h="3695263" extrusionOk="0">
                <a:moveTo>
                  <a:pt x="0" y="0"/>
                </a:moveTo>
                <a:lnTo>
                  <a:pt x="3695263" y="0"/>
                </a:lnTo>
                <a:lnTo>
                  <a:pt x="3695263" y="3695264"/>
                </a:lnTo>
                <a:lnTo>
                  <a:pt x="0" y="369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398" name="Google Shape;398;g3f8812c830a_0_237"/>
          <p:cNvGrpSpPr/>
          <p:nvPr/>
        </p:nvGrpSpPr>
        <p:grpSpPr>
          <a:xfrm>
            <a:off x="6520761" y="-72333"/>
            <a:ext cx="4218087" cy="5216002"/>
            <a:chOff x="0" y="-38100"/>
            <a:chExt cx="2221800" cy="2747433"/>
          </a:xfrm>
        </p:grpSpPr>
        <p:sp>
          <p:nvSpPr>
            <p:cNvPr id="399" name="Google Shape;399;g3f8812c830a_0_237"/>
            <p:cNvSpPr/>
            <p:nvPr/>
          </p:nvSpPr>
          <p:spPr>
            <a:xfrm>
              <a:off x="0" y="0"/>
              <a:ext cx="2221710" cy="2709333"/>
            </a:xfrm>
            <a:custGeom>
              <a:avLst/>
              <a:gdLst/>
              <a:ahLst/>
              <a:cxnLst/>
              <a:rect l="l" t="t" r="r" b="b"/>
              <a:pathLst>
                <a:path w="2221710" h="2709333" extrusionOk="0">
                  <a:moveTo>
                    <a:pt x="71586" y="0"/>
                  </a:moveTo>
                  <a:lnTo>
                    <a:pt x="2150124" y="0"/>
                  </a:lnTo>
                  <a:cubicBezTo>
                    <a:pt x="2189660" y="0"/>
                    <a:pt x="2221710" y="32050"/>
                    <a:pt x="2221710" y="71586"/>
                  </a:cubicBezTo>
                  <a:lnTo>
                    <a:pt x="2221710" y="2637747"/>
                  </a:lnTo>
                  <a:cubicBezTo>
                    <a:pt x="2221710" y="2677283"/>
                    <a:pt x="2189660" y="2709333"/>
                    <a:pt x="2150124" y="2709333"/>
                  </a:cubicBezTo>
                  <a:lnTo>
                    <a:pt x="71586" y="2709333"/>
                  </a:lnTo>
                  <a:cubicBezTo>
                    <a:pt x="32050" y="2709333"/>
                    <a:pt x="0" y="2677283"/>
                    <a:pt x="0" y="2637747"/>
                  </a:cubicBezTo>
                  <a:lnTo>
                    <a:pt x="0" y="71586"/>
                  </a:lnTo>
                  <a:cubicBezTo>
                    <a:pt x="0" y="32050"/>
                    <a:pt x="32050" y="0"/>
                    <a:pt x="71586" y="0"/>
                  </a:cubicBezTo>
                  <a:close/>
                </a:path>
              </a:pathLst>
            </a:custGeom>
            <a:solidFill>
              <a:srgbClr val="FFE13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g3f8812c830a_0_237"/>
            <p:cNvSpPr txBox="1"/>
            <p:nvPr/>
          </p:nvSpPr>
          <p:spPr>
            <a:xfrm>
              <a:off x="0" y="-38100"/>
              <a:ext cx="22218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1" name="Google Shape;401;g3f8812c830a_0_237"/>
          <p:cNvSpPr/>
          <p:nvPr/>
        </p:nvSpPr>
        <p:spPr>
          <a:xfrm>
            <a:off x="7661661" y="2513522"/>
            <a:ext cx="2221770" cy="2885039"/>
          </a:xfrm>
          <a:custGeom>
            <a:avLst/>
            <a:gdLst/>
            <a:ahLst/>
            <a:cxnLst/>
            <a:rect l="l" t="t" r="r" b="b"/>
            <a:pathLst>
              <a:path w="4443540" h="5770078" extrusionOk="0">
                <a:moveTo>
                  <a:pt x="0" y="0"/>
                </a:moveTo>
                <a:lnTo>
                  <a:pt x="4443540" y="0"/>
                </a:lnTo>
                <a:lnTo>
                  <a:pt x="4443540" y="5770079"/>
                </a:lnTo>
                <a:lnTo>
                  <a:pt x="0" y="5770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2" name="Google Shape;402;g3f8812c830a_0_237"/>
          <p:cNvSpPr/>
          <p:nvPr/>
        </p:nvSpPr>
        <p:spPr>
          <a:xfrm>
            <a:off x="6320104" y="1647934"/>
            <a:ext cx="1550245" cy="3807719"/>
          </a:xfrm>
          <a:custGeom>
            <a:avLst/>
            <a:gdLst/>
            <a:ahLst/>
            <a:cxnLst/>
            <a:rect l="l" t="t" r="r" b="b"/>
            <a:pathLst>
              <a:path w="3100490" h="7615437" extrusionOk="0">
                <a:moveTo>
                  <a:pt x="0" y="0"/>
                </a:moveTo>
                <a:lnTo>
                  <a:pt x="3100490" y="0"/>
                </a:lnTo>
                <a:lnTo>
                  <a:pt x="3100490" y="7615438"/>
                </a:lnTo>
                <a:lnTo>
                  <a:pt x="0" y="7615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03" name="Google Shape;403;g3f8812c830a_0_237"/>
          <p:cNvSpPr txBox="1"/>
          <p:nvPr/>
        </p:nvSpPr>
        <p:spPr>
          <a:xfrm>
            <a:off x="1011158" y="2162406"/>
            <a:ext cx="685800" cy="818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pt-BR" sz="3800" b="1" i="0" u="none" strike="noStrike" cap="none" dirty="0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700" b="0" i="0" u="none" strike="noStrike" cap="none" dirty="0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g3f8812c830a_0_237"/>
          <p:cNvSpPr txBox="1"/>
          <p:nvPr/>
        </p:nvSpPr>
        <p:spPr>
          <a:xfrm>
            <a:off x="2619725" y="1647950"/>
            <a:ext cx="3132600" cy="18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3200" b="0" i="0" u="none" strike="noStrike" cap="none">
                <a:solidFill>
                  <a:srgbClr val="FFE6D9"/>
                </a:solidFill>
                <a:latin typeface="Nunito Black"/>
                <a:ea typeface="Nunito Black"/>
                <a:cs typeface="Nunito Black"/>
                <a:sym typeface="Nunito Black"/>
              </a:rPr>
              <a:t>Como a rede vem sendo apoiada</a:t>
            </a:r>
            <a:endParaRPr sz="3200" b="0" i="0" u="none" strike="noStrike" cap="none">
              <a:solidFill>
                <a:srgbClr val="FFE6D9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f8812c830a_0_259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10" name="Google Shape;410;g3f8812c830a_0_259"/>
          <p:cNvSpPr txBox="1"/>
          <p:nvPr/>
        </p:nvSpPr>
        <p:spPr>
          <a:xfrm>
            <a:off x="127050" y="151475"/>
            <a:ext cx="57042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5"/>
              <a:buFont typeface="Arial"/>
              <a:buNone/>
            </a:pPr>
            <a:r>
              <a:rPr lang="pt-BR" sz="2525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RAPP em movimento</a:t>
            </a:r>
            <a:endParaRPr sz="2525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cxnSp>
        <p:nvCxnSpPr>
          <p:cNvPr id="411" name="Google Shape;411;g3f8812c830a_0_259"/>
          <p:cNvCxnSpPr/>
          <p:nvPr/>
        </p:nvCxnSpPr>
        <p:spPr>
          <a:xfrm>
            <a:off x="960165" y="1079559"/>
            <a:ext cx="7303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sp>
        <p:nvSpPr>
          <p:cNvPr id="412" name="Google Shape;412;g3f8812c830a_0_259"/>
          <p:cNvSpPr/>
          <p:nvPr/>
        </p:nvSpPr>
        <p:spPr>
          <a:xfrm>
            <a:off x="919465" y="1036659"/>
            <a:ext cx="90600" cy="85800"/>
          </a:xfrm>
          <a:prstGeom prst="ellipse">
            <a:avLst/>
          </a:prstGeom>
          <a:solidFill>
            <a:srgbClr val="08563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g3f8812c830a_0_259"/>
          <p:cNvSpPr/>
          <p:nvPr/>
        </p:nvSpPr>
        <p:spPr>
          <a:xfrm>
            <a:off x="2648900" y="1036659"/>
            <a:ext cx="90600" cy="85800"/>
          </a:xfrm>
          <a:prstGeom prst="ellipse">
            <a:avLst/>
          </a:prstGeom>
          <a:solidFill>
            <a:srgbClr val="C47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g3f8812c830a_0_259"/>
          <p:cNvSpPr/>
          <p:nvPr/>
        </p:nvSpPr>
        <p:spPr>
          <a:xfrm>
            <a:off x="4469978" y="1036659"/>
            <a:ext cx="90600" cy="85800"/>
          </a:xfrm>
          <a:prstGeom prst="ellipse">
            <a:avLst/>
          </a:prstGeom>
          <a:solidFill>
            <a:srgbClr val="F1C23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g3f8812c830a_0_259"/>
          <p:cNvSpPr/>
          <p:nvPr/>
        </p:nvSpPr>
        <p:spPr>
          <a:xfrm>
            <a:off x="6240796" y="1041459"/>
            <a:ext cx="90600" cy="85800"/>
          </a:xfrm>
          <a:prstGeom prst="ellipse">
            <a:avLst/>
          </a:prstGeom>
          <a:solidFill>
            <a:srgbClr val="08563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g3f8812c830a_0_259"/>
          <p:cNvSpPr/>
          <p:nvPr/>
        </p:nvSpPr>
        <p:spPr>
          <a:xfrm>
            <a:off x="8172752" y="1041459"/>
            <a:ext cx="90600" cy="85800"/>
          </a:xfrm>
          <a:prstGeom prst="ellipse">
            <a:avLst/>
          </a:prstGeom>
          <a:solidFill>
            <a:srgbClr val="C47E3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g3f8812c830a_0_259"/>
          <p:cNvSpPr/>
          <p:nvPr/>
        </p:nvSpPr>
        <p:spPr>
          <a:xfrm>
            <a:off x="290665" y="1899284"/>
            <a:ext cx="1348200" cy="2297100"/>
          </a:xfrm>
          <a:prstGeom prst="rect">
            <a:avLst/>
          </a:prstGeom>
          <a:noFill/>
          <a:ln w="9525" cap="flat" cmpd="sng">
            <a:solidFill>
              <a:srgbClr val="08563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g3f8812c830a_0_259"/>
          <p:cNvSpPr/>
          <p:nvPr/>
        </p:nvSpPr>
        <p:spPr>
          <a:xfrm>
            <a:off x="2020090" y="1899284"/>
            <a:ext cx="1348200" cy="2297100"/>
          </a:xfrm>
          <a:prstGeom prst="rect">
            <a:avLst/>
          </a:prstGeom>
          <a:noFill/>
          <a:ln w="9525" cap="flat" cmpd="sng">
            <a:solidFill>
              <a:srgbClr val="C47E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g3f8812c830a_0_259"/>
          <p:cNvSpPr/>
          <p:nvPr/>
        </p:nvSpPr>
        <p:spPr>
          <a:xfrm>
            <a:off x="3841190" y="1899284"/>
            <a:ext cx="1348200" cy="2297100"/>
          </a:xfrm>
          <a:prstGeom prst="rect">
            <a:avLst/>
          </a:prstGeom>
          <a:noFill/>
          <a:ln w="9525" cap="flat" cmpd="sng">
            <a:solidFill>
              <a:srgbClr val="F1C23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g3f8812c830a_0_259"/>
          <p:cNvSpPr/>
          <p:nvPr/>
        </p:nvSpPr>
        <p:spPr>
          <a:xfrm>
            <a:off x="5611990" y="1899284"/>
            <a:ext cx="1348200" cy="2297100"/>
          </a:xfrm>
          <a:prstGeom prst="rect">
            <a:avLst/>
          </a:prstGeom>
          <a:noFill/>
          <a:ln w="9525" cap="flat" cmpd="sng">
            <a:solidFill>
              <a:srgbClr val="95C2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g3f8812c830a_0_259"/>
          <p:cNvSpPr/>
          <p:nvPr/>
        </p:nvSpPr>
        <p:spPr>
          <a:xfrm>
            <a:off x="7543965" y="1899284"/>
            <a:ext cx="1348200" cy="2297100"/>
          </a:xfrm>
          <a:prstGeom prst="rect">
            <a:avLst/>
          </a:prstGeom>
          <a:noFill/>
          <a:ln w="9525" cap="flat" cmpd="sng">
            <a:solidFill>
              <a:srgbClr val="C47E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2" name="Google Shape;422;g3f8812c830a_0_259"/>
          <p:cNvPicPr preferRelativeResize="0"/>
          <p:nvPr/>
        </p:nvPicPr>
        <p:blipFill rotWithShape="1">
          <a:blip r:embed="rId4">
            <a:alphaModFix/>
          </a:blip>
          <a:srcRect l="3344" r="77951"/>
          <a:stretch/>
        </p:blipFill>
        <p:spPr>
          <a:xfrm>
            <a:off x="679276" y="1265226"/>
            <a:ext cx="567086" cy="1011062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g3f8812c830a_0_259"/>
          <p:cNvSpPr txBox="1"/>
          <p:nvPr/>
        </p:nvSpPr>
        <p:spPr>
          <a:xfrm>
            <a:off x="258525" y="523950"/>
            <a:ext cx="53535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Como temos apoiado a rede ao longo do ciclo? </a:t>
            </a:r>
            <a:endParaRPr sz="12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g3f8812c830a_0_259"/>
          <p:cNvSpPr txBox="1"/>
          <p:nvPr/>
        </p:nvSpPr>
        <p:spPr>
          <a:xfrm>
            <a:off x="439013" y="2177647"/>
            <a:ext cx="104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TUTORIAIS E ORIENTAÇÕES </a:t>
            </a:r>
            <a:endParaRPr sz="9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5" name="Google Shape;425;g3f8812c830a_0_259"/>
          <p:cNvSpPr txBox="1"/>
          <p:nvPr/>
        </p:nvSpPr>
        <p:spPr>
          <a:xfrm>
            <a:off x="2137260" y="2164675"/>
            <a:ext cx="11310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MOBILIZAÇÃO E ENGAJAMENTO</a:t>
            </a:r>
            <a:endParaRPr sz="900" b="1" i="0" u="none" strike="noStrike" cap="none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6" name="Google Shape;426;g3f8812c830a_0_259"/>
          <p:cNvSpPr txBox="1"/>
          <p:nvPr/>
        </p:nvSpPr>
        <p:spPr>
          <a:xfrm>
            <a:off x="3837759" y="2120950"/>
            <a:ext cx="14022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BF9000"/>
                </a:solidFill>
                <a:latin typeface="Nunito"/>
                <a:ea typeface="Nunito"/>
                <a:cs typeface="Nunito"/>
                <a:sym typeface="Nunito"/>
              </a:rPr>
              <a:t>FLUXOS E DIRECIONAMENTOS</a:t>
            </a:r>
            <a:endParaRPr sz="900" b="1" i="0" u="none" strike="noStrike" cap="none">
              <a:solidFill>
                <a:srgbClr val="BF900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7" name="Google Shape;427;g3f8812c830a_0_259"/>
          <p:cNvSpPr txBox="1"/>
          <p:nvPr/>
        </p:nvSpPr>
        <p:spPr>
          <a:xfrm>
            <a:off x="5776296" y="2124621"/>
            <a:ext cx="10476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ENCONTROS COM A REDE</a:t>
            </a:r>
            <a:endParaRPr sz="9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28" name="Google Shape;428;g3f8812c830a_0_259"/>
          <p:cNvSpPr txBox="1"/>
          <p:nvPr/>
        </p:nvSpPr>
        <p:spPr>
          <a:xfrm>
            <a:off x="7519594" y="2138150"/>
            <a:ext cx="1402200" cy="1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pt-BR" sz="900" b="1" i="0" u="none" strike="noStrike" cap="none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ACOMPANHAMENTO CONTÍNUO</a:t>
            </a:r>
            <a:endParaRPr sz="900" b="1" i="0" u="none" strike="noStrike" cap="none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29" name="Google Shape;429;g3f8812c830a_0_259"/>
          <p:cNvCxnSpPr/>
          <p:nvPr/>
        </p:nvCxnSpPr>
        <p:spPr>
          <a:xfrm>
            <a:off x="449425" y="2626568"/>
            <a:ext cx="1040700" cy="0"/>
          </a:xfrm>
          <a:prstGeom prst="straightConnector1">
            <a:avLst/>
          </a:prstGeom>
          <a:noFill/>
          <a:ln w="9525" cap="flat" cmpd="sng">
            <a:solidFill>
              <a:srgbClr val="08563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0" name="Google Shape;430;g3f8812c830a_0_259"/>
          <p:cNvCxnSpPr/>
          <p:nvPr/>
        </p:nvCxnSpPr>
        <p:spPr>
          <a:xfrm>
            <a:off x="2182400" y="2626568"/>
            <a:ext cx="1040700" cy="0"/>
          </a:xfrm>
          <a:prstGeom prst="straightConnector1">
            <a:avLst/>
          </a:prstGeom>
          <a:noFill/>
          <a:ln w="9525" cap="flat" cmpd="sng">
            <a:solidFill>
              <a:srgbClr val="C47E3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1" name="Google Shape;431;g3f8812c830a_0_259"/>
          <p:cNvCxnSpPr/>
          <p:nvPr/>
        </p:nvCxnSpPr>
        <p:spPr>
          <a:xfrm>
            <a:off x="3991996" y="2626568"/>
            <a:ext cx="1040700" cy="0"/>
          </a:xfrm>
          <a:prstGeom prst="straightConnector1">
            <a:avLst/>
          </a:prstGeom>
          <a:noFill/>
          <a:ln w="9525" cap="flat" cmpd="sng">
            <a:solidFill>
              <a:srgbClr val="EB9C04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2" name="Google Shape;432;g3f8812c830a_0_259"/>
          <p:cNvCxnSpPr/>
          <p:nvPr/>
        </p:nvCxnSpPr>
        <p:spPr>
          <a:xfrm>
            <a:off x="5765750" y="2626568"/>
            <a:ext cx="1040700" cy="0"/>
          </a:xfrm>
          <a:prstGeom prst="straightConnector1">
            <a:avLst/>
          </a:prstGeom>
          <a:noFill/>
          <a:ln w="9525" cap="flat" cmpd="sng">
            <a:solidFill>
              <a:srgbClr val="95C237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33" name="Google Shape;433;g3f8812c830a_0_259"/>
          <p:cNvCxnSpPr/>
          <p:nvPr/>
        </p:nvCxnSpPr>
        <p:spPr>
          <a:xfrm>
            <a:off x="7700350" y="2626568"/>
            <a:ext cx="1040700" cy="0"/>
          </a:xfrm>
          <a:prstGeom prst="straightConnector1">
            <a:avLst/>
          </a:prstGeom>
          <a:noFill/>
          <a:ln w="9525" cap="flat" cmpd="sng">
            <a:solidFill>
              <a:srgbClr val="E74201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34" name="Google Shape;434;g3f8812c830a_0_259"/>
          <p:cNvPicPr preferRelativeResize="0"/>
          <p:nvPr/>
        </p:nvPicPr>
        <p:blipFill rotWithShape="1">
          <a:blip r:embed="rId4">
            <a:alphaModFix/>
          </a:blip>
          <a:srcRect l="21946" r="59349"/>
          <a:stretch/>
        </p:blipFill>
        <p:spPr>
          <a:xfrm>
            <a:off x="2406499" y="1265225"/>
            <a:ext cx="567076" cy="101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5" name="Google Shape;435;g3f8812c830a_0_259"/>
          <p:cNvPicPr preferRelativeResize="0"/>
          <p:nvPr/>
        </p:nvPicPr>
        <p:blipFill rotWithShape="1">
          <a:blip r:embed="rId4">
            <a:alphaModFix/>
          </a:blip>
          <a:srcRect l="40677" r="40619"/>
          <a:stretch/>
        </p:blipFill>
        <p:spPr>
          <a:xfrm>
            <a:off x="4230496" y="1277650"/>
            <a:ext cx="567076" cy="101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3f8812c830a_0_259"/>
          <p:cNvPicPr preferRelativeResize="0"/>
          <p:nvPr/>
        </p:nvPicPr>
        <p:blipFill rotWithShape="1">
          <a:blip r:embed="rId4">
            <a:alphaModFix/>
          </a:blip>
          <a:srcRect l="59278" r="22017"/>
          <a:stretch/>
        </p:blipFill>
        <p:spPr>
          <a:xfrm>
            <a:off x="6003815" y="1277650"/>
            <a:ext cx="567076" cy="1011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437" name="Google Shape;437;g3f8812c830a_0_259"/>
          <p:cNvPicPr preferRelativeResize="0"/>
          <p:nvPr/>
        </p:nvPicPr>
        <p:blipFill rotWithShape="1">
          <a:blip r:embed="rId4">
            <a:alphaModFix/>
          </a:blip>
          <a:srcRect l="77878" r="3417"/>
          <a:stretch/>
        </p:blipFill>
        <p:spPr>
          <a:xfrm>
            <a:off x="7950930" y="1265225"/>
            <a:ext cx="567076" cy="1011076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f8812c830a_0_259"/>
          <p:cNvSpPr txBox="1"/>
          <p:nvPr/>
        </p:nvSpPr>
        <p:spPr>
          <a:xfrm>
            <a:off x="330125" y="2619924"/>
            <a:ext cx="12792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Materiais e vídeos produzidos para orientar Direcs, professores - tutores nos principais processos do RAPP. </a:t>
            </a:r>
            <a:endParaRPr sz="8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39" name="Google Shape;439;g3f8812c830a_0_259"/>
          <p:cNvSpPr txBox="1"/>
          <p:nvPr/>
        </p:nvSpPr>
        <p:spPr>
          <a:xfrm>
            <a:off x="2050438" y="2619880"/>
            <a:ext cx="12792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Comunicações, cards, e-mails e mensagens estratégicas para fortalecer a mobilização e o protagonismo de toda rede. </a:t>
            </a:r>
            <a:endParaRPr sz="8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0" name="Google Shape;440;g3f8812c830a_0_259"/>
          <p:cNvSpPr txBox="1"/>
          <p:nvPr/>
        </p:nvSpPr>
        <p:spPr>
          <a:xfrm>
            <a:off x="3875688" y="2633136"/>
            <a:ext cx="12792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Orientações e esclarecimento de dúvidas sobre agendamentos, avaliações e reaberturas, apoiando a rede ao longo de cada etapa do RAPP. </a:t>
            </a:r>
            <a:endParaRPr sz="8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1" name="Google Shape;441;g3f8812c830a_0_259"/>
          <p:cNvSpPr txBox="1"/>
          <p:nvPr/>
        </p:nvSpPr>
        <p:spPr>
          <a:xfrm>
            <a:off x="5662290" y="2486816"/>
            <a:ext cx="1279200" cy="17753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Reuniões com as </a:t>
            </a:r>
            <a:r>
              <a:rPr lang="pt-BR" sz="800" b="0" i="0" u="none" strike="noStrike" cap="none" dirty="0" err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DIRECs</a:t>
            </a:r>
            <a:r>
              <a:rPr lang="pt-BR" sz="8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e Núcleos RAPP, além de momentos de alinhamento com assistentes e professores-tutores, promovendo escuta, troca e construção conjunta de soluções. </a:t>
            </a:r>
            <a:endParaRPr sz="8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442" name="Google Shape;442;g3f8812c830a_0_259"/>
          <p:cNvSpPr txBox="1"/>
          <p:nvPr/>
        </p:nvSpPr>
        <p:spPr>
          <a:xfrm>
            <a:off x="7567882" y="2534988"/>
            <a:ext cx="1279200" cy="12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800" b="0" i="0" u="none" strike="noStrike" cap="none" dirty="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Monitoramento contínuo por meio de dashboards e painéis, transformando dados em evidências para apoiar decisões e direcionar a atuação da rede.</a:t>
            </a:r>
            <a:endParaRPr sz="8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 dirty="0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443" name="Google Shape;443;g3f8812c830a_0_259"/>
          <p:cNvCxnSpPr>
            <a:stCxn id="412" idx="4"/>
          </p:cNvCxnSpPr>
          <p:nvPr/>
        </p:nvCxnSpPr>
        <p:spPr>
          <a:xfrm>
            <a:off x="964765" y="1122459"/>
            <a:ext cx="0" cy="30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4" name="Google Shape;444;g3f8812c830a_0_259"/>
          <p:cNvCxnSpPr/>
          <p:nvPr/>
        </p:nvCxnSpPr>
        <p:spPr>
          <a:xfrm>
            <a:off x="2694190" y="1122459"/>
            <a:ext cx="0" cy="300000"/>
          </a:xfrm>
          <a:prstGeom prst="straightConnector1">
            <a:avLst/>
          </a:prstGeom>
          <a:noFill/>
          <a:ln w="9525" cap="flat" cmpd="sng">
            <a:solidFill>
              <a:srgbClr val="EA4801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5" name="Google Shape;445;g3f8812c830a_0_259"/>
          <p:cNvCxnSpPr/>
          <p:nvPr/>
        </p:nvCxnSpPr>
        <p:spPr>
          <a:xfrm>
            <a:off x="4515290" y="1122459"/>
            <a:ext cx="0" cy="300000"/>
          </a:xfrm>
          <a:prstGeom prst="straightConnector1">
            <a:avLst/>
          </a:prstGeom>
          <a:noFill/>
          <a:ln w="9525" cap="flat" cmpd="sng">
            <a:solidFill>
              <a:srgbClr val="F0A803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6" name="Google Shape;446;g3f8812c830a_0_259"/>
          <p:cNvCxnSpPr/>
          <p:nvPr/>
        </p:nvCxnSpPr>
        <p:spPr>
          <a:xfrm>
            <a:off x="6286090" y="1122459"/>
            <a:ext cx="0" cy="300000"/>
          </a:xfrm>
          <a:prstGeom prst="straightConnector1">
            <a:avLst/>
          </a:prstGeom>
          <a:noFill/>
          <a:ln w="9525" cap="flat" cmpd="sng">
            <a:solidFill>
              <a:srgbClr val="5D992E"/>
            </a:solidFill>
            <a:prstDash val="dot"/>
            <a:round/>
            <a:headEnd type="none" w="sm" len="sm"/>
            <a:tailEnd type="none" w="sm" len="sm"/>
          </a:ln>
        </p:spPr>
      </p:cxnSp>
      <p:cxnSp>
        <p:nvCxnSpPr>
          <p:cNvPr id="447" name="Google Shape;447;g3f8812c830a_0_259"/>
          <p:cNvCxnSpPr/>
          <p:nvPr/>
        </p:nvCxnSpPr>
        <p:spPr>
          <a:xfrm>
            <a:off x="8218040" y="1149946"/>
            <a:ext cx="0" cy="300000"/>
          </a:xfrm>
          <a:prstGeom prst="straightConnector1">
            <a:avLst/>
          </a:prstGeom>
          <a:noFill/>
          <a:ln w="9525" cap="flat" cmpd="sng">
            <a:solidFill>
              <a:srgbClr val="EA4801"/>
            </a:solidFill>
            <a:prstDash val="dot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f780a7cf7b_0_0"/>
          <p:cNvSpPr/>
          <p:nvPr/>
        </p:nvSpPr>
        <p:spPr>
          <a:xfrm rot="424183">
            <a:off x="6770088" y="2745628"/>
            <a:ext cx="2081626" cy="1215219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g3f780a7cf7b_0_0"/>
          <p:cNvSpPr/>
          <p:nvPr/>
        </p:nvSpPr>
        <p:spPr>
          <a:xfrm rot="1243">
            <a:off x="6991595" y="682784"/>
            <a:ext cx="1659300" cy="2015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g3f780a7cf7b_0_0"/>
          <p:cNvSpPr/>
          <p:nvPr/>
        </p:nvSpPr>
        <p:spPr>
          <a:xfrm rot="-199543">
            <a:off x="4874792" y="599706"/>
            <a:ext cx="2006479" cy="118431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g3f780a7cf7b_0_0"/>
          <p:cNvSpPr/>
          <p:nvPr/>
        </p:nvSpPr>
        <p:spPr>
          <a:xfrm rot="423981">
            <a:off x="4447859" y="1906666"/>
            <a:ext cx="2180160" cy="165359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g3f780a7cf7b_0_0"/>
          <p:cNvSpPr/>
          <p:nvPr/>
        </p:nvSpPr>
        <p:spPr>
          <a:xfrm>
            <a:off x="3015663" y="358675"/>
            <a:ext cx="1748700" cy="136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g3f780a7cf7b_0_0"/>
          <p:cNvSpPr/>
          <p:nvPr/>
        </p:nvSpPr>
        <p:spPr>
          <a:xfrm>
            <a:off x="4724095" y="3612225"/>
            <a:ext cx="2820600" cy="1416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g3f780a7cf7b_0_0"/>
          <p:cNvSpPr/>
          <p:nvPr/>
        </p:nvSpPr>
        <p:spPr>
          <a:xfrm>
            <a:off x="2841086" y="1802445"/>
            <a:ext cx="1602600" cy="12591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g3f780a7cf7b_0_0"/>
          <p:cNvSpPr/>
          <p:nvPr/>
        </p:nvSpPr>
        <p:spPr>
          <a:xfrm rot="535949">
            <a:off x="2201984" y="3518957"/>
            <a:ext cx="2426731" cy="1416967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0" name="Google Shape;460;g3f780a7cf7b_0_0"/>
          <p:cNvSpPr/>
          <p:nvPr/>
        </p:nvSpPr>
        <p:spPr>
          <a:xfrm rot="-568425">
            <a:off x="356958" y="2913842"/>
            <a:ext cx="1977572" cy="11624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g3f780a7cf7b_0_0"/>
          <p:cNvSpPr/>
          <p:nvPr/>
        </p:nvSpPr>
        <p:spPr>
          <a:xfrm rot="-395613">
            <a:off x="244651" y="1172515"/>
            <a:ext cx="2547349" cy="145714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89650" tIns="89650" rIns="89650" bIns="896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73"/>
              <a:buFont typeface="Arial"/>
              <a:buNone/>
            </a:pPr>
            <a:endParaRPr sz="1373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g3f780a7cf7b_0_0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63" name="Google Shape;463;g3f780a7cf7b_0_0"/>
          <p:cNvSpPr txBox="1"/>
          <p:nvPr/>
        </p:nvSpPr>
        <p:spPr>
          <a:xfrm>
            <a:off x="127050" y="151475"/>
            <a:ext cx="57042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5"/>
              <a:buFont typeface="Arial"/>
              <a:buNone/>
            </a:pPr>
            <a:r>
              <a:rPr lang="pt-BR" sz="2525" b="0" i="0" u="none" strike="noStrike" cap="none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Giro pela rede</a:t>
            </a:r>
            <a:endParaRPr sz="2525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464" name="Google Shape;464;g3f780a7cf7b_0_0"/>
          <p:cNvSpPr txBox="1"/>
          <p:nvPr/>
        </p:nvSpPr>
        <p:spPr>
          <a:xfrm>
            <a:off x="258525" y="523950"/>
            <a:ext cx="53535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pt-BR" sz="1200" b="0" i="0" u="none" strike="noStrike" cap="none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O RAPP acontecendo na prática</a:t>
            </a:r>
            <a:endParaRPr sz="1200" b="0" i="0" u="none" strike="noStrike" cap="none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sz="16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65" name="Google Shape;465;g3f780a7cf7b_0_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 rot="-395711">
            <a:off x="330444" y="1213237"/>
            <a:ext cx="2403163" cy="1351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g3f780a7cf7b_0_0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904477" y="1873398"/>
            <a:ext cx="1478820" cy="1109094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g3f780a7cf7b_0_0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081222" y="424386"/>
            <a:ext cx="1631736" cy="122379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g3f780a7cf7b_0_0"/>
          <p:cNvPicPr preferRelativeResize="0"/>
          <p:nvPr/>
        </p:nvPicPr>
        <p:blipFill rotWithShape="1">
          <a:blip r:embed="rId7">
            <a:alphaModFix/>
          </a:blip>
          <a:srcRect t="27594"/>
          <a:stretch/>
        </p:blipFill>
        <p:spPr>
          <a:xfrm rot="560822">
            <a:off x="2265162" y="3592425"/>
            <a:ext cx="2305024" cy="1251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g3f780a7cf7b_0_0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 rot="471699">
            <a:off x="4496738" y="1974332"/>
            <a:ext cx="2057869" cy="154339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0" name="Google Shape;470;g3f780a7cf7b_0_0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 rot="-175539">
            <a:off x="4920631" y="643299"/>
            <a:ext cx="1910502" cy="10746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f780a7cf7b_0_0"/>
          <p:cNvPicPr preferRelativeResize="0"/>
          <p:nvPr/>
        </p:nvPicPr>
        <p:blipFill rotWithShape="1">
          <a:blip r:embed="rId10">
            <a:alphaModFix/>
          </a:blip>
          <a:srcRect t="35733"/>
          <a:stretch/>
        </p:blipFill>
        <p:spPr>
          <a:xfrm>
            <a:off x="4790149" y="3676620"/>
            <a:ext cx="2672700" cy="1288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2" name="Google Shape;472;g3f780a7cf7b_0_0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 rot="446250">
            <a:off x="6819694" y="2795108"/>
            <a:ext cx="1989722" cy="1118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3" name="Google Shape;473;g3f780a7cf7b_0_0"/>
          <p:cNvPicPr preferRelativeResize="0"/>
          <p:nvPr/>
        </p:nvPicPr>
        <p:blipFill rotWithShape="1">
          <a:blip r:embed="rId12">
            <a:alphaModFix/>
          </a:blip>
          <a:srcRect t="30891"/>
          <a:stretch/>
        </p:blipFill>
        <p:spPr>
          <a:xfrm>
            <a:off x="7043268" y="741445"/>
            <a:ext cx="1555709" cy="191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4" name="Google Shape;474;g3f780a7cf7b_0_0"/>
          <p:cNvPicPr preferRelativeResize="0"/>
          <p:nvPr/>
        </p:nvPicPr>
        <p:blipFill rotWithShape="1">
          <a:blip r:embed="rId13">
            <a:alphaModFix/>
          </a:blip>
          <a:srcRect l="23032" t="76897" r="59647" b="6725"/>
          <a:stretch/>
        </p:blipFill>
        <p:spPr>
          <a:xfrm rot="1749946">
            <a:off x="4529329" y="235497"/>
            <a:ext cx="345841" cy="218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475" name="Google Shape;475;g3f780a7cf7b_0_0"/>
          <p:cNvPicPr preferRelativeResize="0"/>
          <p:nvPr/>
        </p:nvPicPr>
        <p:blipFill rotWithShape="1">
          <a:blip r:embed="rId13">
            <a:alphaModFix/>
          </a:blip>
          <a:srcRect l="42944" t="78740" r="40048" b="6719"/>
          <a:stretch/>
        </p:blipFill>
        <p:spPr>
          <a:xfrm rot="759279">
            <a:off x="3330279" y="3385262"/>
            <a:ext cx="385343" cy="2196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g3f780a7cf7b_0_0"/>
          <p:cNvPicPr preferRelativeResize="0"/>
          <p:nvPr/>
        </p:nvPicPr>
        <p:blipFill rotWithShape="1">
          <a:blip r:embed="rId13">
            <a:alphaModFix/>
          </a:blip>
          <a:srcRect l="42944" t="78740" r="40048" b="6719"/>
          <a:stretch/>
        </p:blipFill>
        <p:spPr>
          <a:xfrm rot="-1649136">
            <a:off x="188779" y="1202087"/>
            <a:ext cx="385343" cy="2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7" name="Google Shape;477;g3f780a7cf7b_0_0"/>
          <p:cNvPicPr preferRelativeResize="0"/>
          <p:nvPr/>
        </p:nvPicPr>
        <p:blipFill rotWithShape="1">
          <a:blip r:embed="rId13">
            <a:alphaModFix/>
          </a:blip>
          <a:srcRect l="4586" t="78737" r="79938" b="6722"/>
          <a:stretch/>
        </p:blipFill>
        <p:spPr>
          <a:xfrm rot="-2449032">
            <a:off x="2763457" y="1734316"/>
            <a:ext cx="343642" cy="215243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g3f780a7cf7b_0_0"/>
          <p:cNvPicPr preferRelativeResize="0"/>
          <p:nvPr/>
        </p:nvPicPr>
        <p:blipFill rotWithShape="1">
          <a:blip r:embed="rId13">
            <a:alphaModFix/>
          </a:blip>
          <a:srcRect l="23032" t="76897" r="59647" b="6725"/>
          <a:stretch/>
        </p:blipFill>
        <p:spPr>
          <a:xfrm rot="-2158409">
            <a:off x="7343155" y="4844697"/>
            <a:ext cx="345842" cy="21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79" name="Google Shape;479;g3f780a7cf7b_0_0"/>
          <p:cNvPicPr preferRelativeResize="0"/>
          <p:nvPr/>
        </p:nvPicPr>
        <p:blipFill rotWithShape="1">
          <a:blip r:embed="rId13">
            <a:alphaModFix/>
          </a:blip>
          <a:srcRect l="42944" t="78740" r="40048" b="6719"/>
          <a:stretch/>
        </p:blipFill>
        <p:spPr>
          <a:xfrm rot="-1649136">
            <a:off x="4446204" y="1732125"/>
            <a:ext cx="385343" cy="21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0" name="Google Shape;480;g3f780a7cf7b_0_0"/>
          <p:cNvPicPr preferRelativeResize="0"/>
          <p:nvPr/>
        </p:nvPicPr>
        <p:blipFill rotWithShape="1">
          <a:blip r:embed="rId13">
            <a:alphaModFix/>
          </a:blip>
          <a:srcRect l="4586" t="78737" r="79938" b="6722"/>
          <a:stretch/>
        </p:blipFill>
        <p:spPr>
          <a:xfrm rot="2090278">
            <a:off x="6617257" y="503242"/>
            <a:ext cx="343643" cy="2152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1" name="Google Shape;481;g3f780a7cf7b_0_0"/>
          <p:cNvPicPr preferRelativeResize="0"/>
          <p:nvPr/>
        </p:nvPicPr>
        <p:blipFill rotWithShape="1">
          <a:blip r:embed="rId13">
            <a:alphaModFix/>
          </a:blip>
          <a:srcRect l="23032" t="76897" r="59647" b="6725"/>
          <a:stretch/>
        </p:blipFill>
        <p:spPr>
          <a:xfrm rot="-2158409">
            <a:off x="6752655" y="2580122"/>
            <a:ext cx="345842" cy="218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g3f780a7cf7b_0_0"/>
          <p:cNvPicPr preferRelativeResize="0"/>
          <p:nvPr/>
        </p:nvPicPr>
        <p:blipFill rotWithShape="1">
          <a:blip r:embed="rId13">
            <a:alphaModFix/>
          </a:blip>
          <a:srcRect l="42944" t="78740" r="40048" b="6719"/>
          <a:stretch/>
        </p:blipFill>
        <p:spPr>
          <a:xfrm rot="2699419">
            <a:off x="8403780" y="628000"/>
            <a:ext cx="385343" cy="219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g3f780a7cf7b_0_0"/>
          <p:cNvPicPr preferRelativeResize="0"/>
          <p:nvPr/>
        </p:nvPicPr>
        <p:blipFill rotWithShape="1">
          <a:blip r:embed="rId14">
            <a:alphaModFix/>
          </a:blip>
          <a:srcRect l="26835" t="38245" r="3063" b="13441"/>
          <a:stretch/>
        </p:blipFill>
        <p:spPr>
          <a:xfrm rot="-587715">
            <a:off x="401113" y="2998655"/>
            <a:ext cx="1883124" cy="973342"/>
          </a:xfrm>
          <a:prstGeom prst="rect">
            <a:avLst/>
          </a:prstGeom>
          <a:noFill/>
          <a:ln>
            <a:noFill/>
          </a:ln>
        </p:spPr>
      </p:pic>
      <p:pic>
        <p:nvPicPr>
          <p:cNvPr id="484" name="Google Shape;484;g3f780a7cf7b_0_0"/>
          <p:cNvPicPr preferRelativeResize="0"/>
          <p:nvPr/>
        </p:nvPicPr>
        <p:blipFill rotWithShape="1">
          <a:blip r:embed="rId13">
            <a:alphaModFix/>
          </a:blip>
          <a:srcRect l="4586" t="78737" r="79938" b="6722"/>
          <a:stretch/>
        </p:blipFill>
        <p:spPr>
          <a:xfrm rot="-2449032">
            <a:off x="156907" y="3039666"/>
            <a:ext cx="343642" cy="2152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A75B"/>
        </a:solidFill>
        <a:effectLst/>
      </p:bgPr>
    </p:bg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f896b147cd_0_42"/>
          <p:cNvSpPr/>
          <p:nvPr/>
        </p:nvSpPr>
        <p:spPr>
          <a:xfrm>
            <a:off x="430243" y="1647934"/>
            <a:ext cx="1847631" cy="1847631"/>
          </a:xfrm>
          <a:custGeom>
            <a:avLst/>
            <a:gdLst/>
            <a:ahLst/>
            <a:cxnLst/>
            <a:rect l="l" t="t" r="r" b="b"/>
            <a:pathLst>
              <a:path w="3695263" h="3695263" extrusionOk="0">
                <a:moveTo>
                  <a:pt x="0" y="0"/>
                </a:moveTo>
                <a:lnTo>
                  <a:pt x="3695263" y="0"/>
                </a:lnTo>
                <a:lnTo>
                  <a:pt x="3695263" y="3695264"/>
                </a:lnTo>
                <a:lnTo>
                  <a:pt x="0" y="369526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490" name="Google Shape;490;g3f896b147cd_0_42"/>
          <p:cNvGrpSpPr/>
          <p:nvPr/>
        </p:nvGrpSpPr>
        <p:grpSpPr>
          <a:xfrm>
            <a:off x="6520761" y="-72333"/>
            <a:ext cx="4218087" cy="5216002"/>
            <a:chOff x="0" y="-38100"/>
            <a:chExt cx="2221800" cy="2747433"/>
          </a:xfrm>
        </p:grpSpPr>
        <p:sp>
          <p:nvSpPr>
            <p:cNvPr id="491" name="Google Shape;491;g3f896b147cd_0_42"/>
            <p:cNvSpPr/>
            <p:nvPr/>
          </p:nvSpPr>
          <p:spPr>
            <a:xfrm>
              <a:off x="0" y="0"/>
              <a:ext cx="2221710" cy="2709333"/>
            </a:xfrm>
            <a:custGeom>
              <a:avLst/>
              <a:gdLst/>
              <a:ahLst/>
              <a:cxnLst/>
              <a:rect l="l" t="t" r="r" b="b"/>
              <a:pathLst>
                <a:path w="2221710" h="2709333" extrusionOk="0">
                  <a:moveTo>
                    <a:pt x="71586" y="0"/>
                  </a:moveTo>
                  <a:lnTo>
                    <a:pt x="2150124" y="0"/>
                  </a:lnTo>
                  <a:cubicBezTo>
                    <a:pt x="2189660" y="0"/>
                    <a:pt x="2221710" y="32050"/>
                    <a:pt x="2221710" y="71586"/>
                  </a:cubicBezTo>
                  <a:lnTo>
                    <a:pt x="2221710" y="2637747"/>
                  </a:lnTo>
                  <a:cubicBezTo>
                    <a:pt x="2221710" y="2677283"/>
                    <a:pt x="2189660" y="2709333"/>
                    <a:pt x="2150124" y="2709333"/>
                  </a:cubicBezTo>
                  <a:lnTo>
                    <a:pt x="71586" y="2709333"/>
                  </a:lnTo>
                  <a:cubicBezTo>
                    <a:pt x="32050" y="2709333"/>
                    <a:pt x="0" y="2677283"/>
                    <a:pt x="0" y="2637747"/>
                  </a:cubicBezTo>
                  <a:lnTo>
                    <a:pt x="0" y="71586"/>
                  </a:lnTo>
                  <a:cubicBezTo>
                    <a:pt x="0" y="32050"/>
                    <a:pt x="32050" y="0"/>
                    <a:pt x="71586" y="0"/>
                  </a:cubicBezTo>
                  <a:close/>
                </a:path>
              </a:pathLst>
            </a:custGeom>
            <a:solidFill>
              <a:srgbClr val="FFE139"/>
            </a:solidFill>
            <a:ln>
              <a:noFill/>
            </a:ln>
          </p:spPr>
          <p:txBody>
            <a:bodyPr spcFirstLastPara="1" wrap="square" lIns="45725" tIns="45725" rIns="45725" bIns="457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00"/>
                <a:buFont typeface="Arial"/>
                <a:buNone/>
              </a:pPr>
              <a:endParaRPr sz="7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g3f896b147cd_0_42"/>
            <p:cNvSpPr txBox="1"/>
            <p:nvPr/>
          </p:nvSpPr>
          <p:spPr>
            <a:xfrm>
              <a:off x="0" y="-38100"/>
              <a:ext cx="2221800" cy="274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25400" tIns="25400" rIns="25400" bIns="25400" anchor="ctr" anchorCtr="0">
              <a:noAutofit/>
            </a:bodyPr>
            <a:lstStyle/>
            <a:p>
              <a:pPr marL="0" marR="0" lvl="0" indent="0" algn="ctr" rtl="0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endPara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93" name="Google Shape;493;g3f896b147cd_0_42"/>
          <p:cNvSpPr/>
          <p:nvPr/>
        </p:nvSpPr>
        <p:spPr>
          <a:xfrm>
            <a:off x="7661661" y="2513522"/>
            <a:ext cx="2221770" cy="2885039"/>
          </a:xfrm>
          <a:custGeom>
            <a:avLst/>
            <a:gdLst/>
            <a:ahLst/>
            <a:cxnLst/>
            <a:rect l="l" t="t" r="r" b="b"/>
            <a:pathLst>
              <a:path w="4443540" h="5770078" extrusionOk="0">
                <a:moveTo>
                  <a:pt x="0" y="0"/>
                </a:moveTo>
                <a:lnTo>
                  <a:pt x="4443540" y="0"/>
                </a:lnTo>
                <a:lnTo>
                  <a:pt x="4443540" y="5770079"/>
                </a:lnTo>
                <a:lnTo>
                  <a:pt x="0" y="577007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4" name="Google Shape;494;g3f896b147cd_0_42"/>
          <p:cNvSpPr/>
          <p:nvPr/>
        </p:nvSpPr>
        <p:spPr>
          <a:xfrm>
            <a:off x="6320104" y="1647934"/>
            <a:ext cx="1550245" cy="3807719"/>
          </a:xfrm>
          <a:custGeom>
            <a:avLst/>
            <a:gdLst/>
            <a:ahLst/>
            <a:cxnLst/>
            <a:rect l="l" t="t" r="r" b="b"/>
            <a:pathLst>
              <a:path w="3100490" h="7615437" extrusionOk="0">
                <a:moveTo>
                  <a:pt x="0" y="0"/>
                </a:moveTo>
                <a:lnTo>
                  <a:pt x="3100490" y="0"/>
                </a:lnTo>
                <a:lnTo>
                  <a:pt x="3100490" y="7615438"/>
                </a:lnTo>
                <a:lnTo>
                  <a:pt x="0" y="76154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495" name="Google Shape;495;g3f896b147cd_0_42"/>
          <p:cNvSpPr txBox="1"/>
          <p:nvPr/>
        </p:nvSpPr>
        <p:spPr>
          <a:xfrm>
            <a:off x="1197661" y="2302094"/>
            <a:ext cx="2913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pt-BR" sz="3800" b="1" i="0" u="none" strike="noStrike" cap="none">
                <a:solidFill>
                  <a:srgbClr val="434343"/>
                </a:solidFill>
                <a:latin typeface="Nunito"/>
                <a:ea typeface="Nunito"/>
                <a:cs typeface="Nunito"/>
                <a:sym typeface="Nunito"/>
              </a:rPr>
              <a:t>5</a:t>
            </a:r>
            <a:endParaRPr sz="700" b="0" i="0" u="none" strike="noStrike" cap="none">
              <a:solidFill>
                <a:srgbClr val="434343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6" name="Google Shape;496;g3f896b147cd_0_42"/>
          <p:cNvSpPr txBox="1"/>
          <p:nvPr/>
        </p:nvSpPr>
        <p:spPr>
          <a:xfrm>
            <a:off x="2619725" y="1647938"/>
            <a:ext cx="2781000" cy="18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45725" rIns="45725" bIns="457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lang="pt-BR" sz="3500">
                <a:solidFill>
                  <a:srgbClr val="FFE6D9"/>
                </a:solidFill>
                <a:latin typeface="Nunito Black"/>
                <a:ea typeface="Nunito Black"/>
                <a:cs typeface="Nunito Black"/>
                <a:sym typeface="Nunito Black"/>
              </a:rPr>
              <a:t>Definições do mês</a:t>
            </a:r>
            <a:endParaRPr sz="3500" b="0" i="0" u="none" strike="noStrike" cap="none">
              <a:solidFill>
                <a:srgbClr val="FFE6D9"/>
              </a:solidFill>
              <a:latin typeface="Nunito Black"/>
              <a:ea typeface="Nunito Black"/>
              <a:cs typeface="Nunito Black"/>
              <a:sym typeface="Nunito Black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fa005b515c_0_48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02" name="Google Shape;502;g3fa005b515c_0_48"/>
          <p:cNvSpPr txBox="1"/>
          <p:nvPr/>
        </p:nvSpPr>
        <p:spPr>
          <a:xfrm>
            <a:off x="127044" y="151475"/>
            <a:ext cx="37083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32000"/>
              <a:buFont typeface="Arial"/>
              <a:buNone/>
            </a:pPr>
            <a:r>
              <a:rPr lang="pt-BR" sz="2500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O que precisamos definir?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503" name="Google Shape;503;g3fa005b515c_0_48"/>
          <p:cNvSpPr/>
          <p:nvPr/>
        </p:nvSpPr>
        <p:spPr>
          <a:xfrm>
            <a:off x="296825" y="1113446"/>
            <a:ext cx="3708300" cy="1746600"/>
          </a:xfrm>
          <a:prstGeom prst="rect">
            <a:avLst/>
          </a:prstGeom>
          <a:solidFill>
            <a:srgbClr val="FEFCF7"/>
          </a:solidFill>
          <a:ln>
            <a:noFill/>
          </a:ln>
          <a:effectLst>
            <a:outerShdw blurRad="57150" dist="19050" dir="5400000" algn="bl" rotWithShape="0">
              <a:srgbClr val="000000">
                <a:alpha val="5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3fa005b515c_0_48"/>
          <p:cNvSpPr txBox="1"/>
          <p:nvPr/>
        </p:nvSpPr>
        <p:spPr>
          <a:xfrm>
            <a:off x="296814" y="1167467"/>
            <a:ext cx="7086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pt-BR" sz="2700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1</a:t>
            </a:r>
            <a:endParaRPr sz="27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5" name="Google Shape;505;g3fa005b515c_0_48"/>
          <p:cNvSpPr/>
          <p:nvPr/>
        </p:nvSpPr>
        <p:spPr>
          <a:xfrm>
            <a:off x="4485225" y="2860050"/>
            <a:ext cx="4227900" cy="1775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ENCAMINHAMENTOS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06" name="Google Shape;506;g3fa005b515c_0_48"/>
          <p:cNvSpPr txBox="1"/>
          <p:nvPr/>
        </p:nvSpPr>
        <p:spPr>
          <a:xfrm>
            <a:off x="899407" y="1180891"/>
            <a:ext cx="3096300" cy="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100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Durante o GT mensal, a rede trouxe a necessidade de definir a possibilidade de os estudantes do EPT realizarem o RAPP no segundo semestre. Diante dessa demanda, quais caminhos podemos seguir para avaliar a viabilidade e definir os próximos encaminhamentos? </a:t>
            </a:r>
            <a:endParaRPr sz="11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faa9e98180_0_11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2" name="Google Shape;512;g3faa9e98180_0_11"/>
          <p:cNvSpPr txBox="1"/>
          <p:nvPr/>
        </p:nvSpPr>
        <p:spPr>
          <a:xfrm>
            <a:off x="710654" y="151475"/>
            <a:ext cx="52074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5"/>
              <a:buFont typeface="Arial"/>
              <a:buNone/>
            </a:pPr>
            <a:r>
              <a:rPr lang="pt-BR" sz="2325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Proposta de datas 2º Ciclo</a:t>
            </a:r>
            <a:endParaRPr sz="2325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cxnSp>
        <p:nvCxnSpPr>
          <p:cNvPr id="513" name="Google Shape;513;g3faa9e98180_0_11"/>
          <p:cNvCxnSpPr/>
          <p:nvPr/>
        </p:nvCxnSpPr>
        <p:spPr>
          <a:xfrm>
            <a:off x="235000" y="707377"/>
            <a:ext cx="1226700" cy="0"/>
          </a:xfrm>
          <a:prstGeom prst="straightConnector1">
            <a:avLst/>
          </a:prstGeom>
          <a:noFill/>
          <a:ln w="19050" cap="flat" cmpd="sng">
            <a:solidFill>
              <a:srgbClr val="C47E3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14" name="Google Shape;514;g3faa9e98180_0_11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15" name="Google Shape;515;g3faa9e98180_0_11"/>
          <p:cNvSpPr/>
          <p:nvPr/>
        </p:nvSpPr>
        <p:spPr>
          <a:xfrm>
            <a:off x="2719243" y="1633462"/>
            <a:ext cx="1937700" cy="26196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g3faa9e98180_0_11"/>
          <p:cNvSpPr/>
          <p:nvPr/>
        </p:nvSpPr>
        <p:spPr>
          <a:xfrm>
            <a:off x="4778062" y="1633462"/>
            <a:ext cx="1937700" cy="2619600"/>
          </a:xfrm>
          <a:prstGeom prst="rect">
            <a:avLst/>
          </a:prstGeom>
          <a:solidFill>
            <a:srgbClr val="FFF3B8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g3faa9e98180_0_11"/>
          <p:cNvSpPr/>
          <p:nvPr/>
        </p:nvSpPr>
        <p:spPr>
          <a:xfrm>
            <a:off x="6836881" y="1633462"/>
            <a:ext cx="1937700" cy="2619600"/>
          </a:xfrm>
          <a:prstGeom prst="rect">
            <a:avLst/>
          </a:prstGeom>
          <a:solidFill>
            <a:srgbClr val="F9CB9C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8" name="Google Shape;518;g3faa9e98180_0_11"/>
          <p:cNvSpPr/>
          <p:nvPr/>
        </p:nvSpPr>
        <p:spPr>
          <a:xfrm>
            <a:off x="2872130" y="1824822"/>
            <a:ext cx="1632000" cy="2236800"/>
          </a:xfrm>
          <a:prstGeom prst="roundRect">
            <a:avLst>
              <a:gd name="adj" fmla="val 16667"/>
            </a:avLst>
          </a:prstGeom>
          <a:solidFill>
            <a:srgbClr val="FFF9D9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3faa9e98180_0_11"/>
          <p:cNvSpPr/>
          <p:nvPr/>
        </p:nvSpPr>
        <p:spPr>
          <a:xfrm>
            <a:off x="4930949" y="1824822"/>
            <a:ext cx="1632000" cy="2236800"/>
          </a:xfrm>
          <a:prstGeom prst="roundRect">
            <a:avLst>
              <a:gd name="adj" fmla="val 16667"/>
            </a:avLst>
          </a:prstGeom>
          <a:solidFill>
            <a:srgbClr val="FFF9D9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g3faa9e98180_0_11"/>
          <p:cNvSpPr/>
          <p:nvPr/>
        </p:nvSpPr>
        <p:spPr>
          <a:xfrm>
            <a:off x="6989768" y="1793038"/>
            <a:ext cx="1632000" cy="2236800"/>
          </a:xfrm>
          <a:prstGeom prst="roundRect">
            <a:avLst>
              <a:gd name="adj" fmla="val 16667"/>
            </a:avLst>
          </a:prstGeom>
          <a:solidFill>
            <a:srgbClr val="FFF9D9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g3faa9e98180_0_11"/>
          <p:cNvSpPr/>
          <p:nvPr/>
        </p:nvSpPr>
        <p:spPr>
          <a:xfrm>
            <a:off x="2712860" y="1276531"/>
            <a:ext cx="1300200" cy="3249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g3faa9e98180_0_11"/>
          <p:cNvSpPr/>
          <p:nvPr/>
        </p:nvSpPr>
        <p:spPr>
          <a:xfrm>
            <a:off x="4778071" y="1276581"/>
            <a:ext cx="1300200" cy="324900"/>
          </a:xfrm>
          <a:prstGeom prst="rect">
            <a:avLst/>
          </a:prstGeom>
          <a:solidFill>
            <a:srgbClr val="FFE139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g3faa9e98180_0_11"/>
          <p:cNvSpPr/>
          <p:nvPr/>
        </p:nvSpPr>
        <p:spPr>
          <a:xfrm>
            <a:off x="6843282" y="1276627"/>
            <a:ext cx="1300200" cy="3249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g3faa9e98180_0_11"/>
          <p:cNvSpPr txBox="1"/>
          <p:nvPr/>
        </p:nvSpPr>
        <p:spPr>
          <a:xfrm>
            <a:off x="2731992" y="1260584"/>
            <a:ext cx="19377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6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Cenário 1 </a:t>
            </a:r>
            <a:endParaRPr sz="1406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5" name="Google Shape;525;g3faa9e98180_0_11"/>
          <p:cNvSpPr txBox="1"/>
          <p:nvPr/>
        </p:nvSpPr>
        <p:spPr>
          <a:xfrm>
            <a:off x="4762141" y="1251035"/>
            <a:ext cx="19377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6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Cenário 2 </a:t>
            </a:r>
            <a:endParaRPr sz="1406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6" name="Google Shape;526;g3faa9e98180_0_11"/>
          <p:cNvSpPr txBox="1"/>
          <p:nvPr/>
        </p:nvSpPr>
        <p:spPr>
          <a:xfrm>
            <a:off x="6843282" y="1251123"/>
            <a:ext cx="1937700" cy="3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6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Cenário 3 </a:t>
            </a:r>
            <a:endParaRPr sz="1406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7" name="Google Shape;527;g3faa9e98180_0_11"/>
          <p:cNvSpPr txBox="1"/>
          <p:nvPr/>
        </p:nvSpPr>
        <p:spPr>
          <a:xfrm>
            <a:off x="3142846" y="1953446"/>
            <a:ext cx="1121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DO AGENDAMENTO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28" name="Google Shape;528;g3faa9e98180_0_11"/>
          <p:cNvSpPr txBox="1"/>
          <p:nvPr/>
        </p:nvSpPr>
        <p:spPr>
          <a:xfrm>
            <a:off x="3342974" y="2089137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28/09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29" name="Google Shape;529;g3faa9e98180_0_11"/>
          <p:cNvCxnSpPr/>
          <p:nvPr/>
        </p:nvCxnSpPr>
        <p:spPr>
          <a:xfrm>
            <a:off x="3252894" y="2425477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0" name="Google Shape;530;g3faa9e98180_0_11"/>
          <p:cNvSpPr txBox="1"/>
          <p:nvPr/>
        </p:nvSpPr>
        <p:spPr>
          <a:xfrm>
            <a:off x="3145825" y="3044046"/>
            <a:ext cx="1121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DAS AVALIAÇÕES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1" name="Google Shape;531;g3faa9e98180_0_11"/>
          <p:cNvSpPr txBox="1"/>
          <p:nvPr/>
        </p:nvSpPr>
        <p:spPr>
          <a:xfrm>
            <a:off x="3342972" y="3148930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05/10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32" name="Google Shape;532;g3faa9e98180_0_11"/>
          <p:cNvCxnSpPr/>
          <p:nvPr/>
        </p:nvCxnSpPr>
        <p:spPr>
          <a:xfrm>
            <a:off x="3252894" y="3537275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33" name="Google Shape;533;g3faa9e98180_0_11"/>
          <p:cNvSpPr txBox="1"/>
          <p:nvPr/>
        </p:nvSpPr>
        <p:spPr>
          <a:xfrm>
            <a:off x="3113127" y="3568250"/>
            <a:ext cx="1175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TÉRMINO DAS AVALIAÇÕES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4" name="Google Shape;534;g3faa9e98180_0_11"/>
          <p:cNvSpPr txBox="1"/>
          <p:nvPr/>
        </p:nvSpPr>
        <p:spPr>
          <a:xfrm>
            <a:off x="3342972" y="3741556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15/12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g3faa9e98180_0_11"/>
          <p:cNvSpPr/>
          <p:nvPr/>
        </p:nvSpPr>
        <p:spPr>
          <a:xfrm>
            <a:off x="2712860" y="4333952"/>
            <a:ext cx="1937700" cy="401100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g3faa9e98180_0_11"/>
          <p:cNvSpPr txBox="1"/>
          <p:nvPr/>
        </p:nvSpPr>
        <p:spPr>
          <a:xfrm>
            <a:off x="2763758" y="4270772"/>
            <a:ext cx="15279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3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49 dias úteis </a:t>
            </a:r>
            <a:endParaRPr sz="123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7" name="Google Shape;537;g3faa9e98180_0_11"/>
          <p:cNvSpPr txBox="1"/>
          <p:nvPr/>
        </p:nvSpPr>
        <p:spPr>
          <a:xfrm>
            <a:off x="2773012" y="4447554"/>
            <a:ext cx="21537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6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para realização das avaliações</a:t>
            </a:r>
            <a:endParaRPr sz="966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8" name="Google Shape;538;g3faa9e98180_0_11"/>
          <p:cNvSpPr txBox="1"/>
          <p:nvPr/>
        </p:nvSpPr>
        <p:spPr>
          <a:xfrm>
            <a:off x="5156004" y="1904926"/>
            <a:ext cx="12672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DE MOBILIZAÇÃO DAS TRILHAS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39" name="Google Shape;539;g3faa9e98180_0_11"/>
          <p:cNvSpPr txBox="1"/>
          <p:nvPr/>
        </p:nvSpPr>
        <p:spPr>
          <a:xfrm>
            <a:off x="5417630" y="2090828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05/10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0" name="Google Shape;540;g3faa9e98180_0_11"/>
          <p:cNvCxnSpPr/>
          <p:nvPr/>
        </p:nvCxnSpPr>
        <p:spPr>
          <a:xfrm>
            <a:off x="5327550" y="2427169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1" name="Google Shape;541;g3faa9e98180_0_11"/>
          <p:cNvSpPr txBox="1"/>
          <p:nvPr/>
        </p:nvSpPr>
        <p:spPr>
          <a:xfrm>
            <a:off x="5220481" y="2471088"/>
            <a:ext cx="1121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DO AGENDAMENTO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2" name="Google Shape;542;g3faa9e98180_0_11"/>
          <p:cNvSpPr txBox="1"/>
          <p:nvPr/>
        </p:nvSpPr>
        <p:spPr>
          <a:xfrm>
            <a:off x="5417628" y="2575972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15/10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3" name="Google Shape;543;g3faa9e98180_0_11"/>
          <p:cNvCxnSpPr/>
          <p:nvPr/>
        </p:nvCxnSpPr>
        <p:spPr>
          <a:xfrm>
            <a:off x="5327550" y="2964317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4" name="Google Shape;544;g3faa9e98180_0_11"/>
          <p:cNvSpPr txBox="1"/>
          <p:nvPr/>
        </p:nvSpPr>
        <p:spPr>
          <a:xfrm>
            <a:off x="5187783" y="2995293"/>
            <a:ext cx="1175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 DAS AVALIAÇÕES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5" name="Google Shape;545;g3faa9e98180_0_11"/>
          <p:cNvSpPr txBox="1"/>
          <p:nvPr/>
        </p:nvSpPr>
        <p:spPr>
          <a:xfrm>
            <a:off x="5417628" y="3176695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19/10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46" name="Google Shape;546;g3faa9e98180_0_11"/>
          <p:cNvCxnSpPr/>
          <p:nvPr/>
        </p:nvCxnSpPr>
        <p:spPr>
          <a:xfrm>
            <a:off x="5341228" y="3529237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47" name="Google Shape;547;g3faa9e98180_0_11"/>
          <p:cNvSpPr txBox="1"/>
          <p:nvPr/>
        </p:nvSpPr>
        <p:spPr>
          <a:xfrm>
            <a:off x="5201461" y="3560213"/>
            <a:ext cx="1175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TÉRMINO DAS AVALIAÇÕES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48" name="Google Shape;548;g3faa9e98180_0_11"/>
          <p:cNvSpPr txBox="1"/>
          <p:nvPr/>
        </p:nvSpPr>
        <p:spPr>
          <a:xfrm>
            <a:off x="5431306" y="3741615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15/12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g3faa9e98180_0_11"/>
          <p:cNvSpPr/>
          <p:nvPr/>
        </p:nvSpPr>
        <p:spPr>
          <a:xfrm>
            <a:off x="4778071" y="4331233"/>
            <a:ext cx="1937700" cy="401100"/>
          </a:xfrm>
          <a:prstGeom prst="rect">
            <a:avLst/>
          </a:prstGeom>
          <a:solidFill>
            <a:srgbClr val="FFE139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g3faa9e98180_0_11"/>
          <p:cNvSpPr txBox="1"/>
          <p:nvPr/>
        </p:nvSpPr>
        <p:spPr>
          <a:xfrm>
            <a:off x="4828969" y="4268053"/>
            <a:ext cx="15279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3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40 dias úteis </a:t>
            </a:r>
            <a:endParaRPr sz="123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1" name="Google Shape;551;g3faa9e98180_0_11"/>
          <p:cNvSpPr txBox="1"/>
          <p:nvPr/>
        </p:nvSpPr>
        <p:spPr>
          <a:xfrm>
            <a:off x="4838223" y="4444835"/>
            <a:ext cx="21537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6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para realização das avaliações</a:t>
            </a:r>
            <a:endParaRPr sz="966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2" name="Google Shape;552;g3faa9e98180_0_11"/>
          <p:cNvSpPr txBox="1"/>
          <p:nvPr/>
        </p:nvSpPr>
        <p:spPr>
          <a:xfrm>
            <a:off x="7456483" y="2057902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05/10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g3faa9e98180_0_11"/>
          <p:cNvCxnSpPr/>
          <p:nvPr/>
        </p:nvCxnSpPr>
        <p:spPr>
          <a:xfrm>
            <a:off x="7366402" y="2394243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4" name="Google Shape;554;g3faa9e98180_0_11"/>
          <p:cNvSpPr txBox="1"/>
          <p:nvPr/>
        </p:nvSpPr>
        <p:spPr>
          <a:xfrm>
            <a:off x="7259334" y="2438163"/>
            <a:ext cx="1121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DO AGENDAMENTO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5" name="Google Shape;555;g3faa9e98180_0_11"/>
          <p:cNvSpPr txBox="1"/>
          <p:nvPr/>
        </p:nvSpPr>
        <p:spPr>
          <a:xfrm>
            <a:off x="7456480" y="2543047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03/11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6" name="Google Shape;556;g3faa9e98180_0_11"/>
          <p:cNvCxnSpPr/>
          <p:nvPr/>
        </p:nvCxnSpPr>
        <p:spPr>
          <a:xfrm>
            <a:off x="7366402" y="2931391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57" name="Google Shape;557;g3faa9e98180_0_11"/>
          <p:cNvSpPr txBox="1"/>
          <p:nvPr/>
        </p:nvSpPr>
        <p:spPr>
          <a:xfrm>
            <a:off x="7226636" y="2962367"/>
            <a:ext cx="1175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 DAS AVALIAÇÕES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58" name="Google Shape;558;g3faa9e98180_0_11"/>
          <p:cNvSpPr txBox="1"/>
          <p:nvPr/>
        </p:nvSpPr>
        <p:spPr>
          <a:xfrm>
            <a:off x="7456480" y="3143769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09/11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9" name="Google Shape;559;g3faa9e98180_0_11"/>
          <p:cNvCxnSpPr/>
          <p:nvPr/>
        </p:nvCxnSpPr>
        <p:spPr>
          <a:xfrm>
            <a:off x="7380080" y="3496311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0" name="Google Shape;560;g3faa9e98180_0_11"/>
          <p:cNvSpPr txBox="1"/>
          <p:nvPr/>
        </p:nvSpPr>
        <p:spPr>
          <a:xfrm>
            <a:off x="7240314" y="3527287"/>
            <a:ext cx="1175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TÉRMINO DAS AVALIAÇÕES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1" name="Google Shape;561;g3faa9e98180_0_11"/>
          <p:cNvSpPr txBox="1"/>
          <p:nvPr/>
        </p:nvSpPr>
        <p:spPr>
          <a:xfrm>
            <a:off x="7470159" y="3708689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15/12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g3faa9e98180_0_11"/>
          <p:cNvSpPr/>
          <p:nvPr/>
        </p:nvSpPr>
        <p:spPr>
          <a:xfrm>
            <a:off x="6843282" y="4326862"/>
            <a:ext cx="1937700" cy="4011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80325" tIns="80325" rIns="80325" bIns="803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23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3" name="Google Shape;563;g3faa9e98180_0_11"/>
          <p:cNvSpPr txBox="1"/>
          <p:nvPr/>
        </p:nvSpPr>
        <p:spPr>
          <a:xfrm>
            <a:off x="6894180" y="4263682"/>
            <a:ext cx="1527900" cy="2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30" b="1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26 dias úteis </a:t>
            </a:r>
            <a:endParaRPr sz="1230" b="1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4" name="Google Shape;564;g3faa9e98180_0_11"/>
          <p:cNvSpPr txBox="1"/>
          <p:nvPr/>
        </p:nvSpPr>
        <p:spPr>
          <a:xfrm>
            <a:off x="6903434" y="4440464"/>
            <a:ext cx="21537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66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para realização das avaliações</a:t>
            </a:r>
            <a:endParaRPr sz="966">
              <a:solidFill>
                <a:schemeClr val="lt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5" name="Google Shape;565;g3faa9e98180_0_11"/>
          <p:cNvSpPr txBox="1"/>
          <p:nvPr/>
        </p:nvSpPr>
        <p:spPr>
          <a:xfrm>
            <a:off x="7172167" y="1878041"/>
            <a:ext cx="12672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DE MOBILIZAÇÃO DAS TRILHAS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566" name="Google Shape;566;g3faa9e98180_0_11"/>
          <p:cNvCxnSpPr/>
          <p:nvPr/>
        </p:nvCxnSpPr>
        <p:spPr>
          <a:xfrm>
            <a:off x="3252894" y="2947140"/>
            <a:ext cx="907200" cy="0"/>
          </a:xfrm>
          <a:prstGeom prst="straightConnector1">
            <a:avLst/>
          </a:prstGeom>
          <a:noFill/>
          <a:ln w="6175" cap="flat" cmpd="sng">
            <a:solidFill>
              <a:srgbClr val="08563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67" name="Google Shape;567;g3faa9e98180_0_11"/>
          <p:cNvSpPr txBox="1"/>
          <p:nvPr/>
        </p:nvSpPr>
        <p:spPr>
          <a:xfrm>
            <a:off x="3162563" y="2514063"/>
            <a:ext cx="1121400" cy="1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583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INÍCIO DAS TRILHAS</a:t>
            </a:r>
            <a:endParaRPr sz="583" b="1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68" name="Google Shape;568;g3faa9e98180_0_11"/>
          <p:cNvSpPr txBox="1"/>
          <p:nvPr/>
        </p:nvSpPr>
        <p:spPr>
          <a:xfrm>
            <a:off x="3359709" y="2618947"/>
            <a:ext cx="715500" cy="2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9200" tIns="59200" rIns="59200" bIns="5920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60" b="1">
                <a:solidFill>
                  <a:srgbClr val="085630"/>
                </a:solidFill>
                <a:latin typeface="Calibri"/>
                <a:ea typeface="Calibri"/>
                <a:cs typeface="Calibri"/>
                <a:sym typeface="Calibri"/>
              </a:rPr>
              <a:t>05/10</a:t>
            </a:r>
            <a:endParaRPr sz="1360" b="1">
              <a:solidFill>
                <a:srgbClr val="08563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g3faa9e98180_0_11"/>
          <p:cNvSpPr txBox="1"/>
          <p:nvPr/>
        </p:nvSpPr>
        <p:spPr>
          <a:xfrm>
            <a:off x="2701175" y="1047522"/>
            <a:ext cx="17241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15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PRIORIZA TEMPO DE AVALIAÇÃO</a:t>
            </a:r>
            <a:endParaRPr sz="615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0" name="Google Shape;570;g3faa9e98180_0_11"/>
          <p:cNvSpPr txBox="1"/>
          <p:nvPr/>
        </p:nvSpPr>
        <p:spPr>
          <a:xfrm>
            <a:off x="4762146" y="1047522"/>
            <a:ext cx="17241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15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EQUILIBRA TRILHAS E AVALIAÇÕES</a:t>
            </a:r>
            <a:endParaRPr sz="615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1" name="Google Shape;571;g3faa9e98180_0_11"/>
          <p:cNvSpPr txBox="1"/>
          <p:nvPr/>
        </p:nvSpPr>
        <p:spPr>
          <a:xfrm>
            <a:off x="6823118" y="1036100"/>
            <a:ext cx="1724100" cy="1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0325" tIns="80325" rIns="80325" bIns="803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615" b="1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PRIORIZA TEMPO DAS TRILHAS </a:t>
            </a:r>
            <a:endParaRPr sz="615" b="1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72" name="Google Shape;572;g3faa9e98180_0_11"/>
          <p:cNvSpPr txBox="1"/>
          <p:nvPr/>
        </p:nvSpPr>
        <p:spPr>
          <a:xfrm>
            <a:off x="102283" y="67049"/>
            <a:ext cx="7086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1D9E75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pt-BR" sz="2700" b="1">
                <a:solidFill>
                  <a:srgbClr val="1D9E75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endParaRPr sz="2700" b="1" i="0" u="none" strike="noStrike" cap="none">
              <a:solidFill>
                <a:srgbClr val="1D9E75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573" name="Google Shape;573;g3faa9e98180_0_11" title="COMPOSICAO-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412150" y="1619543"/>
            <a:ext cx="2856150" cy="394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3fa005b515c_0_57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79" name="Google Shape;579;g3fa005b515c_0_57"/>
          <p:cNvSpPr txBox="1"/>
          <p:nvPr/>
        </p:nvSpPr>
        <p:spPr>
          <a:xfrm>
            <a:off x="127044" y="151475"/>
            <a:ext cx="37083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32000"/>
              <a:buFont typeface="Arial"/>
              <a:buNone/>
            </a:pPr>
            <a:r>
              <a:rPr lang="pt-BR" sz="2500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O que precisamos definir?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580" name="Google Shape;580;g3fa005b515c_0_57"/>
          <p:cNvSpPr/>
          <p:nvPr/>
        </p:nvSpPr>
        <p:spPr>
          <a:xfrm>
            <a:off x="296825" y="1113446"/>
            <a:ext cx="3708300" cy="1746600"/>
          </a:xfrm>
          <a:prstGeom prst="rect">
            <a:avLst/>
          </a:prstGeom>
          <a:solidFill>
            <a:srgbClr val="FEFCF7"/>
          </a:solidFill>
          <a:ln>
            <a:noFill/>
          </a:ln>
          <a:effectLst>
            <a:outerShdw blurRad="57150" dist="19050" dir="5400000" algn="bl" rotWithShape="0">
              <a:srgbClr val="000000">
                <a:alpha val="5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1" name="Google Shape;581;g3fa005b515c_0_57"/>
          <p:cNvSpPr txBox="1"/>
          <p:nvPr/>
        </p:nvSpPr>
        <p:spPr>
          <a:xfrm>
            <a:off x="296814" y="1167467"/>
            <a:ext cx="7086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pt-BR" sz="2700" b="1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endParaRPr sz="2700" b="1" i="0" u="none" strike="noStrike" cap="none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2" name="Google Shape;582;g3fa005b515c_0_57"/>
          <p:cNvSpPr txBox="1"/>
          <p:nvPr/>
        </p:nvSpPr>
        <p:spPr>
          <a:xfrm>
            <a:off x="899407" y="1180891"/>
            <a:ext cx="3096300" cy="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100" b="1">
                <a:solidFill>
                  <a:srgbClr val="C47E3C"/>
                </a:solidFill>
                <a:latin typeface="Nunito"/>
                <a:ea typeface="Nunito"/>
                <a:cs typeface="Nunito"/>
                <a:sym typeface="Nunito"/>
              </a:rPr>
              <a:t>Definição do próximo GT Mensal com as Direcs.</a:t>
            </a:r>
            <a:endParaRPr sz="1100" b="1" i="0" u="none" strike="noStrike" cap="none">
              <a:solidFill>
                <a:srgbClr val="C47E3C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83" name="Google Shape;583;g3fa005b515c_0_57"/>
          <p:cNvSpPr/>
          <p:nvPr/>
        </p:nvSpPr>
        <p:spPr>
          <a:xfrm>
            <a:off x="4485225" y="2860050"/>
            <a:ext cx="4227900" cy="1775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ENCAMINHAMENTOS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9D9"/>
        </a:solidFill>
        <a:effectLst/>
      </p:bgPr>
    </p:bg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3faa9e98180_0_2"/>
          <p:cNvSpPr/>
          <p:nvPr/>
        </p:nvSpPr>
        <p:spPr>
          <a:xfrm>
            <a:off x="7653049" y="84000"/>
            <a:ext cx="1228453" cy="616596"/>
          </a:xfrm>
          <a:custGeom>
            <a:avLst/>
            <a:gdLst/>
            <a:ahLst/>
            <a:cxnLst/>
            <a:rect l="l" t="t" r="r" b="b"/>
            <a:pathLst>
              <a:path w="5118555" h="2596192" extrusionOk="0">
                <a:moveTo>
                  <a:pt x="0" y="0"/>
                </a:moveTo>
                <a:lnTo>
                  <a:pt x="5118555" y="0"/>
                </a:lnTo>
                <a:lnTo>
                  <a:pt x="5118555" y="2596192"/>
                </a:lnTo>
                <a:lnTo>
                  <a:pt x="0" y="25961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l="-6620" r="-89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589" name="Google Shape;589;g3faa9e98180_0_2"/>
          <p:cNvSpPr txBox="1"/>
          <p:nvPr/>
        </p:nvSpPr>
        <p:spPr>
          <a:xfrm>
            <a:off x="127044" y="151475"/>
            <a:ext cx="37083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6250" tIns="86250" rIns="86250" bIns="86250" anchor="t" anchorCtr="0">
            <a:normAutofit fontScale="925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32000"/>
              <a:buFont typeface="Arial"/>
              <a:buNone/>
            </a:pPr>
            <a:r>
              <a:rPr lang="pt-BR" sz="2500">
                <a:solidFill>
                  <a:srgbClr val="1D9E75"/>
                </a:solidFill>
                <a:latin typeface="Nunito ExtraBold"/>
                <a:ea typeface="Nunito ExtraBold"/>
                <a:cs typeface="Nunito ExtraBold"/>
                <a:sym typeface="Nunito ExtraBold"/>
              </a:rPr>
              <a:t>O que precisamos definir?</a:t>
            </a:r>
            <a:endParaRPr sz="2500" b="0" i="0" u="none" strike="noStrike" cap="none">
              <a:solidFill>
                <a:srgbClr val="1D9E75"/>
              </a:solidFill>
              <a:latin typeface="Nunito ExtraBold"/>
              <a:ea typeface="Nunito ExtraBold"/>
              <a:cs typeface="Nunito ExtraBold"/>
              <a:sym typeface="Nunito ExtraBold"/>
            </a:endParaRPr>
          </a:p>
        </p:txBody>
      </p:sp>
      <p:sp>
        <p:nvSpPr>
          <p:cNvPr id="590" name="Google Shape;590;g3faa9e98180_0_2"/>
          <p:cNvSpPr/>
          <p:nvPr/>
        </p:nvSpPr>
        <p:spPr>
          <a:xfrm>
            <a:off x="296825" y="1113446"/>
            <a:ext cx="3708300" cy="1746600"/>
          </a:xfrm>
          <a:prstGeom prst="rect">
            <a:avLst/>
          </a:prstGeom>
          <a:solidFill>
            <a:srgbClr val="FEFCF7"/>
          </a:solidFill>
          <a:ln>
            <a:noFill/>
          </a:ln>
          <a:effectLst>
            <a:outerShdw blurRad="57150" dist="19050" dir="5400000" algn="bl" rotWithShape="0">
              <a:srgbClr val="000000">
                <a:alpha val="502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g3faa9e98180_0_2"/>
          <p:cNvSpPr txBox="1"/>
          <p:nvPr/>
        </p:nvSpPr>
        <p:spPr>
          <a:xfrm>
            <a:off x="296814" y="1167467"/>
            <a:ext cx="708600" cy="69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lang="pt-BR" sz="2700" b="1" i="0" u="none" strike="noStrike" cap="none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0</a:t>
            </a:r>
            <a:r>
              <a:rPr lang="pt-BR" sz="2700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endParaRPr sz="27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2" name="Google Shape;592;g3faa9e98180_0_2"/>
          <p:cNvSpPr/>
          <p:nvPr/>
        </p:nvSpPr>
        <p:spPr>
          <a:xfrm>
            <a:off x="4485225" y="2860050"/>
            <a:ext cx="4227900" cy="17751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latin typeface="Nunito"/>
                <a:ea typeface="Nunito"/>
                <a:cs typeface="Nunito"/>
                <a:sym typeface="Nunito"/>
              </a:rPr>
              <a:t>ENCAMINHAMENTOS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593" name="Google Shape;593;g3faa9e98180_0_2"/>
          <p:cNvSpPr txBox="1"/>
          <p:nvPr/>
        </p:nvSpPr>
        <p:spPr>
          <a:xfrm>
            <a:off x="899407" y="1180891"/>
            <a:ext cx="3096300" cy="75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pt-BR" sz="1200" b="1">
                <a:solidFill>
                  <a:srgbClr val="085630"/>
                </a:solidFill>
                <a:latin typeface="Nunito"/>
                <a:ea typeface="Nunito"/>
                <a:cs typeface="Nunito"/>
                <a:sym typeface="Nunito"/>
              </a:rPr>
              <a:t>Definição da data do próximo GT RAPP.</a:t>
            </a:r>
            <a:endParaRPr sz="1200" b="1" i="0" u="none" strike="noStrike" cap="none">
              <a:solidFill>
                <a:srgbClr val="085630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2A4DD"/>
        </a:solidFill>
        <a:effectLst/>
      </p:bgPr>
    </p:bg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g3f1c7dcf47f_0_4856"/>
          <p:cNvSpPr txBox="1"/>
          <p:nvPr/>
        </p:nvSpPr>
        <p:spPr>
          <a:xfrm>
            <a:off x="4365025" y="4680469"/>
            <a:ext cx="1620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1" i="0" u="none" strike="noStrike" cap="none">
                <a:solidFill>
                  <a:srgbClr val="1D3557"/>
                </a:solidFill>
                <a:latin typeface="Work Sans Medium"/>
                <a:ea typeface="Work Sans Medium"/>
                <a:cs typeface="Work Sans Medium"/>
                <a:sym typeface="Work Sans Medium"/>
              </a:rPr>
              <a:t>v. 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99" name="Google Shape;599;g3f1c7dcf47f_0_4856"/>
          <p:cNvSpPr txBox="1"/>
          <p:nvPr/>
        </p:nvSpPr>
        <p:spPr>
          <a:xfrm>
            <a:off x="4541214" y="4685232"/>
            <a:ext cx="1007700" cy="12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7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pt-BR" sz="800" b="1" i="0" u="none" strike="noStrike" cap="none">
                <a:solidFill>
                  <a:srgbClr val="1D3557"/>
                </a:solidFill>
                <a:latin typeface="Nunito Medium"/>
                <a:ea typeface="Nunito Medium"/>
                <a:cs typeface="Nunito Medium"/>
                <a:sym typeface="Nunito Medium"/>
              </a:rPr>
              <a:t>1.1 - MAR/2026</a:t>
            </a:r>
            <a:endParaRPr sz="7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0" name="Google Shape;600;g3f1c7dcf47f_0_4856"/>
          <p:cNvSpPr/>
          <p:nvPr/>
        </p:nvSpPr>
        <p:spPr>
          <a:xfrm>
            <a:off x="4646332" y="-1711369"/>
            <a:ext cx="3332432" cy="4681520"/>
          </a:xfrm>
          <a:custGeom>
            <a:avLst/>
            <a:gdLst/>
            <a:ahLst/>
            <a:cxnLst/>
            <a:rect l="l" t="t" r="r" b="b"/>
            <a:pathLst>
              <a:path w="2754076" h="3869025" extrusionOk="0">
                <a:moveTo>
                  <a:pt x="0" y="0"/>
                </a:moveTo>
                <a:lnTo>
                  <a:pt x="2754076" y="0"/>
                </a:lnTo>
                <a:lnTo>
                  <a:pt x="2754076" y="3869025"/>
                </a:lnTo>
                <a:lnTo>
                  <a:pt x="0" y="3869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1" name="Google Shape;601;g3f1c7dcf47f_0_4856"/>
          <p:cNvSpPr/>
          <p:nvPr/>
        </p:nvSpPr>
        <p:spPr>
          <a:xfrm>
            <a:off x="5425463" y="40856"/>
            <a:ext cx="1416364" cy="2260155"/>
          </a:xfrm>
          <a:custGeom>
            <a:avLst/>
            <a:gdLst/>
            <a:ahLst/>
            <a:cxnLst/>
            <a:rect l="l" t="t" r="r" b="b"/>
            <a:pathLst>
              <a:path w="2832727" h="4520309" extrusionOk="0">
                <a:moveTo>
                  <a:pt x="0" y="0"/>
                </a:moveTo>
                <a:lnTo>
                  <a:pt x="2832728" y="0"/>
                </a:lnTo>
                <a:lnTo>
                  <a:pt x="2832728" y="4520309"/>
                </a:lnTo>
                <a:lnTo>
                  <a:pt x="0" y="452030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l="-17460" t="-10700" r="-828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602" name="Google Shape;602;g3f1c7dcf47f_0_4856"/>
          <p:cNvGrpSpPr/>
          <p:nvPr/>
        </p:nvGrpSpPr>
        <p:grpSpPr>
          <a:xfrm>
            <a:off x="-821125" y="1755350"/>
            <a:ext cx="13844482" cy="3680463"/>
            <a:chOff x="0" y="0"/>
            <a:chExt cx="2110922" cy="688568"/>
          </a:xfrm>
        </p:grpSpPr>
        <p:sp>
          <p:nvSpPr>
            <p:cNvPr id="603" name="Google Shape;603;g3f1c7dcf47f_0_4856"/>
            <p:cNvSpPr/>
            <p:nvPr/>
          </p:nvSpPr>
          <p:spPr>
            <a:xfrm>
              <a:off x="0" y="0"/>
              <a:ext cx="2110922" cy="688474"/>
            </a:xfrm>
            <a:custGeom>
              <a:avLst/>
              <a:gdLst/>
              <a:ahLst/>
              <a:cxnLst/>
              <a:rect l="l" t="t" r="r" b="b"/>
              <a:pathLst>
                <a:path w="2110922" h="688474" extrusionOk="0">
                  <a:moveTo>
                    <a:pt x="71179" y="0"/>
                  </a:moveTo>
                  <a:lnTo>
                    <a:pt x="2039743" y="0"/>
                  </a:lnTo>
                  <a:cubicBezTo>
                    <a:pt x="2058621" y="0"/>
                    <a:pt x="2076726" y="7499"/>
                    <a:pt x="2090074" y="20848"/>
                  </a:cubicBezTo>
                  <a:cubicBezTo>
                    <a:pt x="2103423" y="34197"/>
                    <a:pt x="2110922" y="52301"/>
                    <a:pt x="2110922" y="71179"/>
                  </a:cubicBezTo>
                  <a:lnTo>
                    <a:pt x="2110922" y="617295"/>
                  </a:lnTo>
                  <a:cubicBezTo>
                    <a:pt x="2110922" y="656606"/>
                    <a:pt x="2079054" y="688474"/>
                    <a:pt x="2039743" y="688474"/>
                  </a:cubicBezTo>
                  <a:lnTo>
                    <a:pt x="71179" y="688474"/>
                  </a:lnTo>
                  <a:cubicBezTo>
                    <a:pt x="52301" y="688474"/>
                    <a:pt x="34197" y="680975"/>
                    <a:pt x="20848" y="667627"/>
                  </a:cubicBezTo>
                  <a:cubicBezTo>
                    <a:pt x="7499" y="654278"/>
                    <a:pt x="0" y="636173"/>
                    <a:pt x="0" y="617295"/>
                  </a:cubicBezTo>
                  <a:lnTo>
                    <a:pt x="0" y="71179"/>
                  </a:lnTo>
                  <a:cubicBezTo>
                    <a:pt x="0" y="52301"/>
                    <a:pt x="7499" y="34197"/>
                    <a:pt x="20848" y="20848"/>
                  </a:cubicBezTo>
                  <a:cubicBezTo>
                    <a:pt x="34197" y="7499"/>
                    <a:pt x="52301" y="0"/>
                    <a:pt x="71179" y="0"/>
                  </a:cubicBezTo>
                  <a:close/>
                </a:path>
              </a:pathLst>
            </a:custGeom>
            <a:solidFill>
              <a:srgbClr val="C4803F"/>
            </a:solidFill>
            <a:ln>
              <a:noFill/>
            </a:ln>
          </p:spPr>
          <p:txBody>
            <a:bodyPr spcFirstLastPara="1" wrap="square" lIns="100550" tIns="100550" rIns="100550" bIns="100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g3f1c7dcf47f_0_4856"/>
            <p:cNvSpPr txBox="1"/>
            <p:nvPr/>
          </p:nvSpPr>
          <p:spPr>
            <a:xfrm>
              <a:off x="0" y="229568"/>
              <a:ext cx="2110800" cy="459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875" tIns="78875" rIns="78875" bIns="78875" anchor="ctr" anchorCtr="0">
              <a:noAutofit/>
            </a:bodyPr>
            <a:lstStyle/>
            <a:p>
              <a:pPr marL="0" marR="0" lvl="0" indent="0" algn="ctr" rtl="0">
                <a:lnSpc>
                  <a:spcPct val="9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5" name="Google Shape;605;g3f1c7dcf47f_0_4856"/>
          <p:cNvSpPr/>
          <p:nvPr/>
        </p:nvSpPr>
        <p:spPr>
          <a:xfrm>
            <a:off x="3742925" y="591744"/>
            <a:ext cx="1792363" cy="3545831"/>
          </a:xfrm>
          <a:custGeom>
            <a:avLst/>
            <a:gdLst/>
            <a:ahLst/>
            <a:cxnLst/>
            <a:rect l="l" t="t" r="r" b="b"/>
            <a:pathLst>
              <a:path w="2506802" h="4959204" extrusionOk="0">
                <a:moveTo>
                  <a:pt x="0" y="0"/>
                </a:moveTo>
                <a:lnTo>
                  <a:pt x="2506802" y="0"/>
                </a:lnTo>
                <a:lnTo>
                  <a:pt x="2506802" y="4959204"/>
                </a:lnTo>
                <a:lnTo>
                  <a:pt x="0" y="4959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l="-23090" r="-17731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06" name="Google Shape;606;g3f1c7dcf47f_0_4856"/>
          <p:cNvSpPr/>
          <p:nvPr/>
        </p:nvSpPr>
        <p:spPr>
          <a:xfrm>
            <a:off x="6383106" y="-35906"/>
            <a:ext cx="2693908" cy="5839792"/>
          </a:xfrm>
          <a:custGeom>
            <a:avLst/>
            <a:gdLst/>
            <a:ahLst/>
            <a:cxnLst/>
            <a:rect l="l" t="t" r="r" b="b"/>
            <a:pathLst>
              <a:path w="2080238" h="4509492" extrusionOk="0">
                <a:moveTo>
                  <a:pt x="0" y="0"/>
                </a:moveTo>
                <a:lnTo>
                  <a:pt x="2080238" y="0"/>
                </a:lnTo>
                <a:lnTo>
                  <a:pt x="2080238" y="4509492"/>
                </a:lnTo>
                <a:lnTo>
                  <a:pt x="0" y="45094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l="-25459" r="-2885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grpSp>
        <p:nvGrpSpPr>
          <p:cNvPr id="607" name="Google Shape;607;g3f1c7dcf47f_0_4856"/>
          <p:cNvGrpSpPr/>
          <p:nvPr/>
        </p:nvGrpSpPr>
        <p:grpSpPr>
          <a:xfrm>
            <a:off x="4527023" y="3718825"/>
            <a:ext cx="8809281" cy="1952237"/>
            <a:chOff x="0" y="-9525"/>
            <a:chExt cx="2008500" cy="563400"/>
          </a:xfrm>
        </p:grpSpPr>
        <p:sp>
          <p:nvSpPr>
            <p:cNvPr id="608" name="Google Shape;608;g3f1c7dcf47f_0_4856"/>
            <p:cNvSpPr/>
            <p:nvPr/>
          </p:nvSpPr>
          <p:spPr>
            <a:xfrm>
              <a:off x="0" y="0"/>
              <a:ext cx="2008458" cy="553770"/>
            </a:xfrm>
            <a:custGeom>
              <a:avLst/>
              <a:gdLst/>
              <a:ahLst/>
              <a:cxnLst/>
              <a:rect l="l" t="t" r="r" b="b"/>
              <a:pathLst>
                <a:path w="2008458" h="553770" extrusionOk="0">
                  <a:moveTo>
                    <a:pt x="91757" y="0"/>
                  </a:moveTo>
                  <a:lnTo>
                    <a:pt x="1916701" y="0"/>
                  </a:lnTo>
                  <a:cubicBezTo>
                    <a:pt x="1941036" y="0"/>
                    <a:pt x="1964375" y="9667"/>
                    <a:pt x="1981583" y="26875"/>
                  </a:cubicBezTo>
                  <a:cubicBezTo>
                    <a:pt x="1998791" y="44083"/>
                    <a:pt x="2008458" y="67422"/>
                    <a:pt x="2008458" y="91757"/>
                  </a:cubicBezTo>
                  <a:lnTo>
                    <a:pt x="2008458" y="462013"/>
                  </a:lnTo>
                  <a:cubicBezTo>
                    <a:pt x="2008458" y="486348"/>
                    <a:pt x="1998791" y="509687"/>
                    <a:pt x="1981583" y="526895"/>
                  </a:cubicBezTo>
                  <a:cubicBezTo>
                    <a:pt x="1964375" y="544103"/>
                    <a:pt x="1941036" y="553770"/>
                    <a:pt x="1916701" y="553770"/>
                  </a:cubicBezTo>
                  <a:lnTo>
                    <a:pt x="91757" y="553770"/>
                  </a:lnTo>
                  <a:cubicBezTo>
                    <a:pt x="67422" y="553770"/>
                    <a:pt x="44083" y="544103"/>
                    <a:pt x="26875" y="526895"/>
                  </a:cubicBezTo>
                  <a:cubicBezTo>
                    <a:pt x="9667" y="509687"/>
                    <a:pt x="0" y="486348"/>
                    <a:pt x="0" y="462013"/>
                  </a:cubicBezTo>
                  <a:lnTo>
                    <a:pt x="0" y="91757"/>
                  </a:lnTo>
                  <a:cubicBezTo>
                    <a:pt x="0" y="67422"/>
                    <a:pt x="9667" y="44083"/>
                    <a:pt x="26875" y="26875"/>
                  </a:cubicBezTo>
                  <a:cubicBezTo>
                    <a:pt x="44083" y="9667"/>
                    <a:pt x="67422" y="0"/>
                    <a:pt x="91757" y="0"/>
                  </a:cubicBezTo>
                  <a:close/>
                </a:path>
              </a:pathLst>
            </a:custGeom>
            <a:solidFill>
              <a:srgbClr val="F2A4DD"/>
            </a:solidFill>
            <a:ln>
              <a:noFill/>
            </a:ln>
          </p:spPr>
          <p:txBody>
            <a:bodyPr spcFirstLastPara="1" wrap="square" lIns="100550" tIns="100550" rIns="100550" bIns="10055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g3f1c7dcf47f_0_4856"/>
            <p:cNvSpPr txBox="1"/>
            <p:nvPr/>
          </p:nvSpPr>
          <p:spPr>
            <a:xfrm>
              <a:off x="0" y="-9525"/>
              <a:ext cx="2008500" cy="563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78875" tIns="78875" rIns="78875" bIns="78875" anchor="ctr" anchorCtr="0">
              <a:noAutofit/>
            </a:bodyPr>
            <a:lstStyle/>
            <a:p>
              <a:pPr marL="0" marR="0" lvl="0" indent="0" algn="ctr" rtl="0">
                <a:lnSpc>
                  <a:spcPct val="93333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endParaRPr sz="20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10" name="Google Shape;610;g3f1c7dcf47f_0_4856"/>
          <p:cNvSpPr/>
          <p:nvPr/>
        </p:nvSpPr>
        <p:spPr>
          <a:xfrm>
            <a:off x="3334099" y="1641369"/>
            <a:ext cx="4339882" cy="4416522"/>
          </a:xfrm>
          <a:custGeom>
            <a:avLst/>
            <a:gdLst/>
            <a:ahLst/>
            <a:cxnLst/>
            <a:rect l="l" t="t" r="r" b="b"/>
            <a:pathLst>
              <a:path w="5120805" h="5211235" extrusionOk="0">
                <a:moveTo>
                  <a:pt x="0" y="0"/>
                </a:moveTo>
                <a:lnTo>
                  <a:pt x="5120805" y="0"/>
                </a:lnTo>
                <a:lnTo>
                  <a:pt x="5120805" y="5211235"/>
                </a:lnTo>
                <a:lnTo>
                  <a:pt x="0" y="52112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t="-1360" b="-2194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1" name="Google Shape;611;g3f1c7dcf47f_0_4856"/>
          <p:cNvSpPr/>
          <p:nvPr/>
        </p:nvSpPr>
        <p:spPr>
          <a:xfrm>
            <a:off x="4130912" y="3347553"/>
            <a:ext cx="1127085" cy="2456323"/>
          </a:xfrm>
          <a:custGeom>
            <a:avLst/>
            <a:gdLst/>
            <a:ahLst/>
            <a:cxnLst/>
            <a:rect l="l" t="t" r="r" b="b"/>
            <a:pathLst>
              <a:path w="1357934" h="2959425" extrusionOk="0">
                <a:moveTo>
                  <a:pt x="0" y="0"/>
                </a:moveTo>
                <a:lnTo>
                  <a:pt x="1357934" y="0"/>
                </a:lnTo>
                <a:lnTo>
                  <a:pt x="1357934" y="2959425"/>
                </a:lnTo>
                <a:lnTo>
                  <a:pt x="0" y="2959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660" r="-2660" b="-112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2" name="Google Shape;612;g3f1c7dcf47f_0_4856"/>
          <p:cNvSpPr/>
          <p:nvPr/>
        </p:nvSpPr>
        <p:spPr>
          <a:xfrm>
            <a:off x="6222996" y="3718830"/>
            <a:ext cx="5086584" cy="2938972"/>
          </a:xfrm>
          <a:custGeom>
            <a:avLst/>
            <a:gdLst/>
            <a:ahLst/>
            <a:cxnLst/>
            <a:rect l="l" t="t" r="r" b="b"/>
            <a:pathLst>
              <a:path w="5298525" h="3743913" extrusionOk="0">
                <a:moveTo>
                  <a:pt x="0" y="0"/>
                </a:moveTo>
                <a:lnTo>
                  <a:pt x="5298525" y="0"/>
                </a:lnTo>
                <a:lnTo>
                  <a:pt x="5298525" y="3743912"/>
                </a:lnTo>
                <a:lnTo>
                  <a:pt x="0" y="37439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t="-138789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3" name="Google Shape;613;g3f1c7dcf47f_0_4856"/>
          <p:cNvSpPr/>
          <p:nvPr/>
        </p:nvSpPr>
        <p:spPr>
          <a:xfrm>
            <a:off x="8178774" y="1986912"/>
            <a:ext cx="824945" cy="1797851"/>
          </a:xfrm>
          <a:custGeom>
            <a:avLst/>
            <a:gdLst/>
            <a:ahLst/>
            <a:cxnLst/>
            <a:rect l="l" t="t" r="r" b="b"/>
            <a:pathLst>
              <a:path w="1357934" h="2959425" extrusionOk="0">
                <a:moveTo>
                  <a:pt x="0" y="0"/>
                </a:moveTo>
                <a:lnTo>
                  <a:pt x="1357934" y="0"/>
                </a:lnTo>
                <a:lnTo>
                  <a:pt x="1357934" y="2959425"/>
                </a:lnTo>
                <a:lnTo>
                  <a:pt x="0" y="29594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l="-2660" r="-2660" b="-11210"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4" name="Google Shape;614;g3f1c7dcf47f_0_4856"/>
          <p:cNvSpPr/>
          <p:nvPr/>
        </p:nvSpPr>
        <p:spPr>
          <a:xfrm>
            <a:off x="5662851" y="3874753"/>
            <a:ext cx="1418349" cy="1992548"/>
          </a:xfrm>
          <a:custGeom>
            <a:avLst/>
            <a:gdLst/>
            <a:ahLst/>
            <a:cxnLst/>
            <a:rect l="l" t="t" r="r" b="b"/>
            <a:pathLst>
              <a:path w="2754076" h="3869025" extrusionOk="0">
                <a:moveTo>
                  <a:pt x="0" y="0"/>
                </a:moveTo>
                <a:lnTo>
                  <a:pt x="2754076" y="0"/>
                </a:lnTo>
                <a:lnTo>
                  <a:pt x="2754076" y="3869025"/>
                </a:lnTo>
                <a:lnTo>
                  <a:pt x="0" y="3869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pt-BR"/>
          </a:p>
        </p:txBody>
      </p:sp>
      <p:sp>
        <p:nvSpPr>
          <p:cNvPr id="615" name="Google Shape;615;g3f1c7dcf47f_0_4856"/>
          <p:cNvSpPr txBox="1"/>
          <p:nvPr/>
        </p:nvSpPr>
        <p:spPr>
          <a:xfrm>
            <a:off x="0" y="3126326"/>
            <a:ext cx="3250800" cy="5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lang="pt-BR" sz="3800" b="1" i="0" u="none" strike="noStrike" cap="none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rPr>
              <a:t>Obrigado!</a:t>
            </a:r>
            <a:endParaRPr sz="7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</TotalTime>
  <Words>828</Words>
  <Application>Microsoft Office PowerPoint</Application>
  <PresentationFormat>Apresentação na tela (16:9)</PresentationFormat>
  <Paragraphs>163</Paragraphs>
  <Slides>21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21</vt:i4>
      </vt:variant>
    </vt:vector>
  </HeadingPairs>
  <TitlesOfParts>
    <vt:vector size="29" baseType="lpstr">
      <vt:lpstr>Nunito</vt:lpstr>
      <vt:lpstr>Work Sans Medium</vt:lpstr>
      <vt:lpstr>Nunito Black</vt:lpstr>
      <vt:lpstr>Nunito Medium</vt:lpstr>
      <vt:lpstr>Arial</vt:lpstr>
      <vt:lpstr>Nunito ExtraBold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Hugo Bovareto de Oliveira Horsth</cp:lastModifiedBy>
  <cp:revision>2</cp:revision>
  <dcterms:modified xsi:type="dcterms:W3CDTF">2026-10-27T20:42:42Z</dcterms:modified>
</cp:coreProperties>
</file>